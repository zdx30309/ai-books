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4B229F5-8533-4572-9092-54BE1A1926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51F63F-AC7E-4EE4-975C-E535CB0341BC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E8A100-5544-440A-AA2B-5894D9CB1B7A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82338"/>
          </a:solidFill>
          <a:ln w="0">
            <a:solidFill>
              <a:srgbClr val="182338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5C8679-AB15-4F82-940C-5D22294EDBB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394761"/>
          </a:solidFill>
          <a:ln w="0">
            <a:solidFill>
              <a:srgbClr val="394761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A3C36A-4109-4BFD-B9E2-B4F7F8364825}"/>
              </a:ext>
            </a:extLst>
          </p:cNvPr>
          <p:cNvSpPr>
            <a:spLocks noGrp="1"/>
          </p:cNvSpPr>
          <p:nvPr/>
        </p:nvSpPr>
        <p:spPr>
          <a:xfrm>
            <a:off x="647700" y="1095375"/>
            <a:ext cx="6477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33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AI 长篇内容生产工作流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CA0FB6-8E42-4582-875E-B04917AC93BE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581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 i="0">
                <a:solidFill>
                  <a:srgbClr val="E3C77A"/>
                </a:solidFill>
                <a:latin typeface="Microsoft YaHei"/>
                <a:ea typeface="Microsoft YaHei"/>
                <a:cs typeface="Microsoft YaHei"/>
              </a:defRPr>
            </a:pPr>
            <a:r>
              <a:t>从视频文稿到可交付书稿的一体化生成系统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C5C1E0F-959D-45DC-8894-5C9BA3068367}"/>
              </a:ext>
            </a:extLst>
          </p:cNvPr>
          <p:cNvSpPr>
            <a:spLocks noGrp="1"/>
          </p:cNvSpPr>
          <p:nvPr/>
        </p:nvSpPr>
        <p:spPr>
          <a:xfrm>
            <a:off x="7810500" y="1123950"/>
            <a:ext cx="3162300" cy="876300"/>
          </a:xfrm>
          <a:prstGeom prst="roundRect">
            <a:avLst>
              <a:gd name="adj" fmla="val 8696"/>
            </a:avLst>
          </a:prstGeom>
          <a:solidFill>
            <a:srgbClr val="F6F1E7"/>
          </a:solidFill>
          <a:ln w="0">
            <a:solidFill>
              <a:srgbClr val="F6F1E7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C0A139-D281-46B8-8C2D-F443CB6F639D}"/>
              </a:ext>
            </a:extLst>
          </p:cNvPr>
          <p:cNvSpPr>
            <a:spLocks noGrp="1"/>
          </p:cNvSpPr>
          <p:nvPr/>
        </p:nvSpPr>
        <p:spPr>
          <a:xfrm>
            <a:off x="8096250" y="13144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1" i="0">
                <a:solidFill>
                  <a:srgbClr val="1D2A3E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4153FA-C419-4E70-8445-ECC6B673F3A2}"/>
              </a:ext>
            </a:extLst>
          </p:cNvPr>
          <p:cNvSpPr>
            <a:spLocks noGrp="1"/>
          </p:cNvSpPr>
          <p:nvPr/>
        </p:nvSpPr>
        <p:spPr>
          <a:xfrm>
            <a:off x="8096250" y="1581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视频 / 口播 / 课程素材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1CA93C-E67D-434C-AC19-AA8EEBF7061D}"/>
              </a:ext>
            </a:extLst>
          </p:cNvPr>
          <p:cNvSpPr>
            <a:spLocks noGrp="1"/>
          </p:cNvSpPr>
          <p:nvPr/>
        </p:nvSpPr>
        <p:spPr>
          <a:xfrm>
            <a:off x="9239250" y="2266950"/>
            <a:ext cx="19050" cy="342900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17A221C5-84FD-40EC-8981-945FEAADE082}"/>
              </a:ext>
            </a:extLst>
          </p:cNvPr>
          <p:cNvSpPr>
            <a:spLocks noGrp="1"/>
          </p:cNvSpPr>
          <p:nvPr/>
        </p:nvSpPr>
        <p:spPr>
          <a:xfrm rot="10800000">
            <a:off x="9182100" y="2533650"/>
            <a:ext cx="133350" cy="133350"/>
          </a:xfrm>
          <a:prstGeom prst="triangl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CFBD0D-BB39-4647-860C-F1622D33F177}"/>
              </a:ext>
            </a:extLst>
          </p:cNvPr>
          <p:cNvSpPr>
            <a:spLocks noGrp="1"/>
          </p:cNvSpPr>
          <p:nvPr/>
        </p:nvSpPr>
        <p:spPr>
          <a:xfrm>
            <a:off x="7810500" y="2800350"/>
            <a:ext cx="3162300" cy="876300"/>
          </a:xfrm>
          <a:prstGeom prst="roundRect">
            <a:avLst>
              <a:gd name="adj" fmla="val 8696"/>
            </a:avLst>
          </a:prstGeom>
          <a:solidFill>
            <a:srgbClr val="243854"/>
          </a:solidFill>
          <a:ln w="9525">
            <a:solidFill>
              <a:srgbClr val="536783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BC750F-CDEC-4D6D-8941-29D5DA68FC64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1" i="0">
                <a:solidFill>
                  <a:srgbClr val="E3C77A"/>
                </a:solidFill>
                <a:latin typeface="Microsoft YaHei"/>
                <a:ea typeface="Microsoft YaHei"/>
                <a:cs typeface="Microsoft YaHei"/>
              </a:defRPr>
            </a:pPr>
            <a:r>
              <a:t>处理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7CC17FC-730E-459F-81E8-7B105E1FA991}"/>
              </a:ext>
            </a:extLst>
          </p:cNvPr>
          <p:cNvSpPr>
            <a:spLocks noGrp="1"/>
          </p:cNvSpPr>
          <p:nvPr/>
        </p:nvSpPr>
        <p:spPr>
          <a:xfrm>
            <a:off x="8096250" y="32575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多模型协作工作流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17E8B4-D3AE-4457-A80A-7AA317ABFAF2}"/>
              </a:ext>
            </a:extLst>
          </p:cNvPr>
          <p:cNvSpPr>
            <a:spLocks noGrp="1"/>
          </p:cNvSpPr>
          <p:nvPr/>
        </p:nvSpPr>
        <p:spPr>
          <a:xfrm>
            <a:off x="9239250" y="3943350"/>
            <a:ext cx="19050" cy="342900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52CA336C-593B-414B-8523-BF53C85E0498}"/>
              </a:ext>
            </a:extLst>
          </p:cNvPr>
          <p:cNvSpPr>
            <a:spLocks noGrp="1"/>
          </p:cNvSpPr>
          <p:nvPr/>
        </p:nvSpPr>
        <p:spPr>
          <a:xfrm rot="10800000">
            <a:off x="9182100" y="4210050"/>
            <a:ext cx="133350" cy="133350"/>
          </a:xfrm>
          <a:prstGeom prst="triangl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CDA36FF-0C3F-4A38-B4E4-1A2D00ED1399}"/>
              </a:ext>
            </a:extLst>
          </p:cNvPr>
          <p:cNvSpPr>
            <a:spLocks noGrp="1"/>
          </p:cNvSpPr>
          <p:nvPr/>
        </p:nvSpPr>
        <p:spPr>
          <a:xfrm>
            <a:off x="7810500" y="4476750"/>
            <a:ext cx="3162300" cy="876300"/>
          </a:xfrm>
          <a:prstGeom prst="roundRect">
            <a:avLst>
              <a:gd name="adj" fmla="val 8696"/>
            </a:avLst>
          </a:prstGeom>
          <a:solidFill>
            <a:srgbClr val="2F6658"/>
          </a:solidFill>
          <a:ln w="9525">
            <a:solidFill>
              <a:srgbClr val="6FA18C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B0381B-14D4-41F2-9917-48A74732FF0F}"/>
              </a:ext>
            </a:extLst>
          </p:cNvPr>
          <p:cNvSpPr>
            <a:spLocks noGrp="1"/>
          </p:cNvSpPr>
          <p:nvPr/>
        </p:nvSpPr>
        <p:spPr>
          <a:xfrm>
            <a:off x="8096250" y="46291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1" i="0">
                <a:solidFill>
                  <a:srgbClr val="E7DCCB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9234DCD-5506-40A3-81FF-4412F1438AD5}"/>
              </a:ext>
            </a:extLst>
          </p:cNvPr>
          <p:cNvSpPr>
            <a:spLocks noGrp="1"/>
          </p:cNvSpPr>
          <p:nvPr/>
        </p:nvSpPr>
        <p:spPr>
          <a:xfrm>
            <a:off x="8096250" y="49911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完整书稿 / Word / Markdown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C9E261-7A5A-40F4-AD91-6780C67067E1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E7DCCB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核心主张：我们卖的不是 AI 代写，而是内容生产能力。</a:t>
            </a:r>
          </a:p>
        </p:txBody>
      </p:sp>
    </p:spTree>
    <p:extLst>
      <p:ext uri="{BB962C8B-B14F-4D97-AF65-F5344CB8AC3E}">
        <p14:creationId xmlns:p14="http://schemas.microsoft.com/office/powerpoint/2010/main" val="963635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E559751-6BFA-4A43-846C-3DCDC23432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54EFFE-4A12-4C37-AF9C-5BFCF2A2766A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6F7E59C-C67E-4AD2-8908-B682270F8EFA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76200" cy="7620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0458CC-8300-4493-BD4C-BC51064580B4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 i="0">
                <a:solidFill>
                  <a:srgbClr val="E3C77A"/>
                </a:solidFill>
                <a:latin typeface="Aptos"/>
                <a:ea typeface="Aptos"/>
                <a:cs typeface="Aptos"/>
              </a:defRPr>
            </a:pPr>
            <a:r>
              <a:t>POSITIONING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F8C695-2B10-4560-B76D-F2F3D2F0C07C}"/>
              </a:ext>
            </a:extLst>
          </p:cNvPr>
          <p:cNvSpPr>
            <a:spLocks noGrp="1"/>
          </p:cNvSpPr>
          <p:nvPr/>
        </p:nvSpPr>
        <p:spPr>
          <a:xfrm>
            <a:off x="10810875" y="361950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900" b="0" i="0">
                <a:solidFill>
                  <a:srgbClr val="8E99A8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084AC2-8F99-4C83-A992-1EEEA51C0A49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9347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D3090C-A9B0-4D23-8831-A3A9DE100219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这不是一次性生成，而是一套内容生产系统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65638B-B6DB-454F-8BB6-10BD5CC91F08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把短视频和碎片素材沉淀为可交付的长篇内容资产。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7DB470A-72FB-486B-9023-57FC3F30C359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1D2A3E"/>
          </a:solidFill>
          <a:ln w="9525">
            <a:solidFill>
              <a:srgbClr val="36445C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5E2FD7-FC3B-4F3E-8FA1-E522BA7F75C9}"/>
              </a:ext>
            </a:extLst>
          </p:cNvPr>
          <p:cNvSpPr>
            <a:spLocks noGrp="1"/>
          </p:cNvSpPr>
          <p:nvPr/>
        </p:nvSpPr>
        <p:spPr>
          <a:xfrm>
            <a:off x="857250" y="2809875"/>
            <a:ext cx="342900" cy="28575"/>
          </a:xfrm>
          <a:prstGeom prst="rect">
            <a:avLst/>
          </a:prstGeom>
          <a:solidFill>
            <a:srgbClr val="8A4D42"/>
          </a:solidFill>
          <a:ln w="0">
            <a:solidFill>
              <a:srgbClr val="8A4D42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D4CF2B-DB26-40B5-B4DD-9DCC8E4C4B37}"/>
              </a:ext>
            </a:extLst>
          </p:cNvPr>
          <p:cNvSpPr>
            <a:spLocks noGrp="1"/>
          </p:cNvSpPr>
          <p:nvPr/>
        </p:nvSpPr>
        <p:spPr>
          <a:xfrm>
            <a:off x="857250" y="2943225"/>
            <a:ext cx="2800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普通 AI 写作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74B934-1318-4EA3-BB49-2EB863755E93}"/>
              </a:ext>
            </a:extLst>
          </p:cNvPr>
          <p:cNvSpPr>
            <a:spLocks noGrp="1"/>
          </p:cNvSpPr>
          <p:nvPr/>
        </p:nvSpPr>
        <p:spPr>
          <a:xfrm>
            <a:off x="857250" y="3400425"/>
            <a:ext cx="28003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8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一次性输入，一次性输出。结构容易松散，题材风格不稳定，长文失败后难以续接。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DB78A2F-A83B-4801-B79E-33EB95E2F35C}"/>
              </a:ext>
            </a:extLst>
          </p:cNvPr>
          <p:cNvSpPr>
            <a:spLocks noGrp="1"/>
          </p:cNvSpPr>
          <p:nvPr/>
        </p:nvSpPr>
        <p:spPr>
          <a:xfrm>
            <a:off x="4524375" y="2266950"/>
            <a:ext cx="3143250" cy="2571750"/>
          </a:xfrm>
          <a:prstGeom prst="roundRect">
            <a:avLst>
              <a:gd name="adj" fmla="val 2963"/>
            </a:avLst>
          </a:prstGeom>
          <a:solidFill>
            <a:srgbClr val="263751"/>
          </a:solidFill>
          <a:ln w="9525">
            <a:solidFill>
              <a:srgbClr val="36445C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0B59DA-B1BB-47B9-AD60-D89731258AED}"/>
              </a:ext>
            </a:extLst>
          </p:cNvPr>
          <p:cNvSpPr>
            <a:spLocks noGrp="1"/>
          </p:cNvSpPr>
          <p:nvPr/>
        </p:nvSpPr>
        <p:spPr>
          <a:xfrm>
            <a:off x="4695825" y="2457450"/>
            <a:ext cx="34290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9E482A-24BF-4952-AF41-3907FF595A39}"/>
              </a:ext>
            </a:extLst>
          </p:cNvPr>
          <p:cNvSpPr>
            <a:spLocks noGrp="1"/>
          </p:cNvSpPr>
          <p:nvPr/>
        </p:nvSpPr>
        <p:spPr>
          <a:xfrm>
            <a:off x="4695825" y="2590800"/>
            <a:ext cx="2800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我们的工作流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F557C5-820D-40A8-916D-1EB26F7646ED}"/>
              </a:ext>
            </a:extLst>
          </p:cNvPr>
          <p:cNvSpPr>
            <a:spLocks noGrp="1"/>
          </p:cNvSpPr>
          <p:nvPr/>
        </p:nvSpPr>
        <p:spPr>
          <a:xfrm>
            <a:off x="4695825" y="3048000"/>
            <a:ext cx="2800350" cy="1657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8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分类路由、多模型分工、阶段缓存、专项审稿、终稿修复，形成可复用的生产链路。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00D3A00-DEA7-4EE1-98BA-E459E4EDF15F}"/>
              </a:ext>
            </a:extLst>
          </p:cNvPr>
          <p:cNvSpPr>
            <a:spLocks noGrp="1"/>
          </p:cNvSpPr>
          <p:nvPr/>
        </p:nvSpPr>
        <p:spPr>
          <a:xfrm>
            <a:off x="8362950" y="2619375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1D2A3E"/>
          </a:solidFill>
          <a:ln w="9525">
            <a:solidFill>
              <a:srgbClr val="36445C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E905D7-8D44-4846-9DC3-9562004F6DB7}"/>
              </a:ext>
            </a:extLst>
          </p:cNvPr>
          <p:cNvSpPr>
            <a:spLocks noGrp="1"/>
          </p:cNvSpPr>
          <p:nvPr/>
        </p:nvSpPr>
        <p:spPr>
          <a:xfrm>
            <a:off x="8534400" y="2809875"/>
            <a:ext cx="34290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7647C2-B8F1-4F74-9D6A-DDC8C0D8660D}"/>
              </a:ext>
            </a:extLst>
          </p:cNvPr>
          <p:cNvSpPr>
            <a:spLocks noGrp="1"/>
          </p:cNvSpPr>
          <p:nvPr/>
        </p:nvSpPr>
        <p:spPr>
          <a:xfrm>
            <a:off x="8534400" y="2943225"/>
            <a:ext cx="2800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商业交付能力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4F6983-7BD4-40BC-A067-6B2F66C08923}"/>
              </a:ext>
            </a:extLst>
          </p:cNvPr>
          <p:cNvSpPr>
            <a:spLocks noGrp="1"/>
          </p:cNvSpPr>
          <p:nvPr/>
        </p:nvSpPr>
        <p:spPr>
          <a:xfrm>
            <a:off x="8534400" y="3400425"/>
            <a:ext cx="28003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8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前端可操作，后端可部署，结果可下载，适合批量内容生产和客户定制。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D06963-30F7-4AFA-BB34-215E7E8F560E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350" b="1" i="0">
                <a:solidFill>
                  <a:srgbClr val="E3C77A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关键差异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4B6F99F0-6F88-4CC3-AA6D-181EE83E58B0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66675" cy="66675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79B87A-A09A-409B-86B8-F012AAD7BA5C}"/>
              </a:ext>
            </a:extLst>
          </p:cNvPr>
          <p:cNvSpPr>
            <a:spLocks noGrp="1"/>
          </p:cNvSpPr>
          <p:nvPr/>
        </p:nvSpPr>
        <p:spPr>
          <a:xfrm>
            <a:off x="933450" y="5753100"/>
            <a:ext cx="935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E7DCCB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不是万能 prompt，而是题材策略 + 模型调度 + 工程化交付。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38E01EF-0CAE-4EC3-B232-9AB921FA4561}"/>
              </a:ext>
            </a:extLst>
          </p:cNvPr>
          <p:cNvSpPr>
            <a:spLocks noGrp="1"/>
          </p:cNvSpPr>
          <p:nvPr/>
        </p:nvSpPr>
        <p:spPr>
          <a:xfrm>
            <a:off x="762000" y="6153150"/>
            <a:ext cx="66675" cy="66675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6B9D45-A796-4E91-A7C5-27725AB8D15C}"/>
              </a:ext>
            </a:extLst>
          </p:cNvPr>
          <p:cNvSpPr>
            <a:spLocks noGrp="1"/>
          </p:cNvSpPr>
          <p:nvPr/>
        </p:nvSpPr>
        <p:spPr>
          <a:xfrm>
            <a:off x="933450" y="6076950"/>
            <a:ext cx="935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E7DCCB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不是技术演示，而是可上线、可复用、可扩展的内容系统。</a:t>
            </a:r>
          </a:p>
        </p:txBody>
      </p:sp>
    </p:spTree>
    <p:extLst>
      <p:ext uri="{BB962C8B-B14F-4D97-AF65-F5344CB8AC3E}">
        <p14:creationId xmlns:p14="http://schemas.microsoft.com/office/powerpoint/2010/main" val="1247659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DF28A39C-F88B-4E5B-89B7-913F160FD1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46E0AA-5881-48CD-9C4F-B998558F4DC1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1053CC0-C5E2-42EF-80A8-6020462247DF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76200" cy="7620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E3964E-E097-48D3-A204-99E020E8170F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 i="0">
                <a:solidFill>
                  <a:srgbClr val="E3C77A"/>
                </a:solidFill>
                <a:latin typeface="Aptos"/>
                <a:ea typeface="Aptos"/>
                <a:cs typeface="Aptos"/>
              </a:defRPr>
            </a:pPr>
            <a:r>
              <a:t>MARKET PAIN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BF22D6-8AE3-4F43-8EC9-E1CBB2A6D3A9}"/>
              </a:ext>
            </a:extLst>
          </p:cNvPr>
          <p:cNvSpPr>
            <a:spLocks noGrp="1"/>
          </p:cNvSpPr>
          <p:nvPr/>
        </p:nvSpPr>
        <p:spPr>
          <a:xfrm>
            <a:off x="10810875" y="361950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900" b="0" i="0">
                <a:solidFill>
                  <a:srgbClr val="8E99A8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7C0DE9-7697-49AF-9CD0-B47A9AFCA114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9347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E0ED81-420E-4725-8324-6A60799EF977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内容团队真正缺的不是素材，而是把素材变成资产的链路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044069-B8D5-4F52-9326-5DF8B78C6E64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短视频、课程、访谈和口播稿都有价值，但通常停留在碎片状态。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9F49D1E-D8F4-45AF-A7D4-71D56DBF31A2}"/>
              </a:ext>
            </a:extLst>
          </p:cNvPr>
          <p:cNvSpPr>
            <a:spLocks noGrp="1"/>
          </p:cNvSpPr>
          <p:nvPr/>
        </p:nvSpPr>
        <p:spPr>
          <a:xfrm>
            <a:off x="781050" y="2505075"/>
            <a:ext cx="323850" cy="323850"/>
          </a:xfrm>
          <a:prstGeom prst="ellipse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8A1C14-ADC5-4F4E-A8D2-9082B41683B7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21324E-981C-46A0-ADD1-CB9BAB1E7016}"/>
              </a:ext>
            </a:extLst>
          </p:cNvPr>
          <p:cNvSpPr>
            <a:spLocks noGrp="1"/>
          </p:cNvSpPr>
          <p:nvPr/>
        </p:nvSpPr>
        <p:spPr>
          <a:xfrm>
            <a:off x="1333500" y="2428875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素材多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5CAC94-87E5-4BEE-A127-44C9A3EF4BF8}"/>
              </a:ext>
            </a:extLst>
          </p:cNvPr>
          <p:cNvSpPr>
            <a:spLocks noGrp="1"/>
          </p:cNvSpPr>
          <p:nvPr/>
        </p:nvSpPr>
        <p:spPr>
          <a:xfrm>
            <a:off x="2857500" y="2447925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视频、直播、课程、访谈不断产生，但难以系统沉淀。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8C9624-D55C-4654-A1C3-F6E8AC947648}"/>
              </a:ext>
            </a:extLst>
          </p:cNvPr>
          <p:cNvSpPr>
            <a:spLocks noGrp="1"/>
          </p:cNvSpPr>
          <p:nvPr/>
        </p:nvSpPr>
        <p:spPr>
          <a:xfrm>
            <a:off x="1333500" y="3000375"/>
            <a:ext cx="91440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C66D14-6BB7-432E-B614-FB6AC7FDF007}"/>
              </a:ext>
            </a:extLst>
          </p:cNvPr>
          <p:cNvSpPr>
            <a:spLocks noGrp="1"/>
          </p:cNvSpPr>
          <p:nvPr/>
        </p:nvSpPr>
        <p:spPr>
          <a:xfrm>
            <a:off x="781050" y="3324225"/>
            <a:ext cx="323850" cy="32385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2B9FF0-6DA6-493C-AD79-DE5840082D1F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EF1E53-4FB3-4DC6-AC8E-4E11BCA8657F}"/>
              </a:ext>
            </a:extLst>
          </p:cNvPr>
          <p:cNvSpPr>
            <a:spLocks noGrp="1"/>
          </p:cNvSpPr>
          <p:nvPr/>
        </p:nvSpPr>
        <p:spPr>
          <a:xfrm>
            <a:off x="1333500" y="3248025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转化慢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574230-3A15-4ACD-AE8D-60CAD43BBD22}"/>
              </a:ext>
            </a:extLst>
          </p:cNvPr>
          <p:cNvSpPr>
            <a:spLocks noGrp="1"/>
          </p:cNvSpPr>
          <p:nvPr/>
        </p:nvSpPr>
        <p:spPr>
          <a:xfrm>
            <a:off x="2857500" y="3267075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人工整理长稿周期长，编辑成本高，质量依赖个人状态。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EE9D96-DDB4-402A-B670-F44CD4B85670}"/>
              </a:ext>
            </a:extLst>
          </p:cNvPr>
          <p:cNvSpPr>
            <a:spLocks noGrp="1"/>
          </p:cNvSpPr>
          <p:nvPr/>
        </p:nvSpPr>
        <p:spPr>
          <a:xfrm>
            <a:off x="1333500" y="3819525"/>
            <a:ext cx="91440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3BF2F73-C5D2-4FD1-9B3F-25EBF331D499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323850" cy="323850"/>
          </a:xfrm>
          <a:prstGeom prst="ellipse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1088A9-6ADF-4EF7-B6E7-75514231DEB8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C9886A-EC82-4022-B8B1-57A3A2C5A754}"/>
              </a:ext>
            </a:extLst>
          </p:cNvPr>
          <p:cNvSpPr>
            <a:spLocks noGrp="1"/>
          </p:cNvSpPr>
          <p:nvPr/>
        </p:nvSpPr>
        <p:spPr>
          <a:xfrm>
            <a:off x="1333500" y="4067175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格式散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633EE5-188C-4A8A-8FAA-34B0671CA92A}"/>
              </a:ext>
            </a:extLst>
          </p:cNvPr>
          <p:cNvSpPr>
            <a:spLocks noGrp="1"/>
          </p:cNvSpPr>
          <p:nvPr/>
        </p:nvSpPr>
        <p:spPr>
          <a:xfrm>
            <a:off x="2857500" y="4086225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目录、导言、正文、下载格式缺乏统一交付标准。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D33896A-EFE8-4A3B-9CCD-60744B0EEC59}"/>
              </a:ext>
            </a:extLst>
          </p:cNvPr>
          <p:cNvSpPr>
            <a:spLocks noGrp="1"/>
          </p:cNvSpPr>
          <p:nvPr/>
        </p:nvSpPr>
        <p:spPr>
          <a:xfrm>
            <a:off x="1333500" y="4638675"/>
            <a:ext cx="91440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F3F8C50-86DF-404C-A06A-87C331FC6403}"/>
              </a:ext>
            </a:extLst>
          </p:cNvPr>
          <p:cNvSpPr>
            <a:spLocks noGrp="1"/>
          </p:cNvSpPr>
          <p:nvPr/>
        </p:nvSpPr>
        <p:spPr>
          <a:xfrm>
            <a:off x="781050" y="4962525"/>
            <a:ext cx="323850" cy="323850"/>
          </a:xfrm>
          <a:prstGeom prst="ellipse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231DF62-B89F-4D6C-9895-C538CF8E9421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0B1B9BD-9760-45DB-AB0A-0ECEF0CB6864}"/>
              </a:ext>
            </a:extLst>
          </p:cNvPr>
          <p:cNvSpPr>
            <a:spLocks noGrp="1"/>
          </p:cNvSpPr>
          <p:nvPr/>
        </p:nvSpPr>
        <p:spPr>
          <a:xfrm>
            <a:off x="1333500" y="4886325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复用弱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34ECE8-467A-4D6E-9B27-170A38BCDC8C}"/>
              </a:ext>
            </a:extLst>
          </p:cNvPr>
          <p:cNvSpPr>
            <a:spLocks noGrp="1"/>
          </p:cNvSpPr>
          <p:nvPr/>
        </p:nvSpPr>
        <p:spPr>
          <a:xfrm>
            <a:off x="2857500" y="4905375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同一套素材很难按不同题材重新包装和批量生产。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42DD7C-8289-4DA0-893C-167857FB855A}"/>
              </a:ext>
            </a:extLst>
          </p:cNvPr>
          <p:cNvSpPr>
            <a:spLocks noGrp="1"/>
          </p:cNvSpPr>
          <p:nvPr/>
        </p:nvSpPr>
        <p:spPr>
          <a:xfrm>
            <a:off x="1333500" y="5457825"/>
            <a:ext cx="91440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55E3F1F-F85C-4123-A80D-38ADF7932139}"/>
              </a:ext>
            </a:extLst>
          </p:cNvPr>
          <p:cNvSpPr>
            <a:spLocks noGrp="1"/>
          </p:cNvSpPr>
          <p:nvPr/>
        </p:nvSpPr>
        <p:spPr>
          <a:xfrm>
            <a:off x="8858250" y="5381625"/>
            <a:ext cx="2190750" cy="819150"/>
          </a:xfrm>
          <a:prstGeom prst="roundRect">
            <a:avLst>
              <a:gd name="adj" fmla="val 9302"/>
            </a:avLst>
          </a:prstGeom>
          <a:solidFill>
            <a:srgbClr val="F6F1E7"/>
          </a:solidFill>
          <a:ln w="0">
            <a:solidFill>
              <a:srgbClr val="F6F1E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E0CD6E-5F75-4CF4-8107-18C05B7E48E7}"/>
              </a:ext>
            </a:extLst>
          </p:cNvPr>
          <p:cNvSpPr>
            <a:spLocks noGrp="1"/>
          </p:cNvSpPr>
          <p:nvPr/>
        </p:nvSpPr>
        <p:spPr>
          <a:xfrm>
            <a:off x="9096375" y="553402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 i="0">
                <a:solidFill>
                  <a:srgbClr val="2F6658"/>
                </a:solidFill>
                <a:latin typeface="Microsoft YaHei"/>
                <a:ea typeface="Microsoft YaHei"/>
                <a:cs typeface="Microsoft YaHei"/>
              </a:defRPr>
            </a:pPr>
            <a:r>
              <a:t>解决方案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8D0A58-6CD6-4DB3-ADD5-FC77CC6E70A6}"/>
              </a:ext>
            </a:extLst>
          </p:cNvPr>
          <p:cNvSpPr>
            <a:spLocks noGrp="1"/>
          </p:cNvSpPr>
          <p:nvPr/>
        </p:nvSpPr>
        <p:spPr>
          <a:xfrm>
            <a:off x="9096375" y="585787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AI 内容工厂</a:t>
            </a:r>
          </a:p>
        </p:txBody>
      </p:sp>
    </p:spTree>
    <p:extLst>
      <p:ext uri="{BB962C8B-B14F-4D97-AF65-F5344CB8AC3E}">
        <p14:creationId xmlns:p14="http://schemas.microsoft.com/office/powerpoint/2010/main" val="78678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D910F17B-59F4-4774-9830-6C92D5FCB9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143EFC-4440-4D65-8708-09973209279F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5DA118B-101E-4A95-9757-48C45FC73388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76200" cy="7620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00853F-886F-41E2-A5F3-8BB0BB676C26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 i="0">
                <a:solidFill>
                  <a:srgbClr val="E3C77A"/>
                </a:solidFill>
                <a:latin typeface="Aptos"/>
                <a:ea typeface="Aptos"/>
                <a:cs typeface="Aptos"/>
              </a:defRPr>
            </a:pPr>
            <a:r>
              <a:t>WORKFLOW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CFC5AF-7114-44BD-8573-BF32AF17A286}"/>
              </a:ext>
            </a:extLst>
          </p:cNvPr>
          <p:cNvSpPr>
            <a:spLocks noGrp="1"/>
          </p:cNvSpPr>
          <p:nvPr/>
        </p:nvSpPr>
        <p:spPr>
          <a:xfrm>
            <a:off x="10810875" y="361950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900" b="0" i="0">
                <a:solidFill>
                  <a:srgbClr val="8E99A8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D32AF9-9CE6-40F9-A246-B0EDF808DD83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9347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29048C-5B3A-4762-A8EB-4D01F4C2237B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从输入到交付，系统按阶段推进并保留中间成果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2CEEE7-F8C8-4A75-A069-7782D69DE66D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展示流程，不展示底层提示词和调度细节。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4568A07-6591-44BC-8708-93ED4A0E09D0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476375" cy="1104900"/>
          </a:xfrm>
          <a:prstGeom prst="roundRect">
            <a:avLst>
              <a:gd name="adj" fmla="val 689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B25062-4A99-42D9-8FD2-3E69697D1354}"/>
              </a:ext>
            </a:extLst>
          </p:cNvPr>
          <p:cNvSpPr>
            <a:spLocks noGrp="1"/>
          </p:cNvSpPr>
          <p:nvPr/>
        </p:nvSpPr>
        <p:spPr>
          <a:xfrm>
            <a:off x="819150" y="2705100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原始文稿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ACD500-B26D-43A6-838C-B4BDBAC58E07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12096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视频口播、课程素材、访谈文本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969EEF-2C05-4959-A9A9-DCD533000EC8}"/>
              </a:ext>
            </a:extLst>
          </p:cNvPr>
          <p:cNvSpPr>
            <a:spLocks noGrp="1"/>
          </p:cNvSpPr>
          <p:nvPr/>
        </p:nvSpPr>
        <p:spPr>
          <a:xfrm>
            <a:off x="819150" y="3524250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42B2C9-591C-4A93-82E8-7A507ADD6569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333375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A2035C86-6A32-4A59-A37A-6515A5D7F034}"/>
              </a:ext>
            </a:extLst>
          </p:cNvPr>
          <p:cNvSpPr>
            <a:spLocks noGrp="1"/>
          </p:cNvSpPr>
          <p:nvPr/>
        </p:nvSpPr>
        <p:spPr>
          <a:xfrm rot="5400000">
            <a:off x="2476500" y="30670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0253542-22F4-4A05-932C-C12C1884E305}"/>
              </a:ext>
            </a:extLst>
          </p:cNvPr>
          <p:cNvSpPr>
            <a:spLocks noGrp="1"/>
          </p:cNvSpPr>
          <p:nvPr/>
        </p:nvSpPr>
        <p:spPr>
          <a:xfrm>
            <a:off x="2543175" y="3257550"/>
            <a:ext cx="1476375" cy="1104900"/>
          </a:xfrm>
          <a:prstGeom prst="roundRect">
            <a:avLst>
              <a:gd name="adj" fmla="val 689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51E915-E938-4612-987A-D36752508214}"/>
              </a:ext>
            </a:extLst>
          </p:cNvPr>
          <p:cNvSpPr>
            <a:spLocks noGrp="1"/>
          </p:cNvSpPr>
          <p:nvPr/>
        </p:nvSpPr>
        <p:spPr>
          <a:xfrm>
            <a:off x="2676525" y="3390900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分类路由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A5322D-8FA4-4863-932C-D483E4546980}"/>
              </a:ext>
            </a:extLst>
          </p:cNvPr>
          <p:cNvSpPr>
            <a:spLocks noGrp="1"/>
          </p:cNvSpPr>
          <p:nvPr/>
        </p:nvSpPr>
        <p:spPr>
          <a:xfrm>
            <a:off x="2676525" y="3733800"/>
            <a:ext cx="12096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识别书籍类型并匹配写法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734BEE-9A88-4307-92F3-0CFBB3E47785}"/>
              </a:ext>
            </a:extLst>
          </p:cNvPr>
          <p:cNvSpPr>
            <a:spLocks noGrp="1"/>
          </p:cNvSpPr>
          <p:nvPr/>
        </p:nvSpPr>
        <p:spPr>
          <a:xfrm>
            <a:off x="2676525" y="4210050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BAEF4F-35AA-41BF-87E7-54328FFA14B4}"/>
              </a:ext>
            </a:extLst>
          </p:cNvPr>
          <p:cNvSpPr>
            <a:spLocks noGrp="1"/>
          </p:cNvSpPr>
          <p:nvPr/>
        </p:nvSpPr>
        <p:spPr>
          <a:xfrm>
            <a:off x="4048125" y="3810000"/>
            <a:ext cx="333375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746E8C28-B74A-4C5F-9C1F-B9A846345A49}"/>
              </a:ext>
            </a:extLst>
          </p:cNvPr>
          <p:cNvSpPr>
            <a:spLocks noGrp="1"/>
          </p:cNvSpPr>
          <p:nvPr/>
        </p:nvSpPr>
        <p:spPr>
          <a:xfrm rot="5400000">
            <a:off x="4333875" y="37528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30B8BC3-39BB-4FF3-A270-D9E0B1C5D258}"/>
              </a:ext>
            </a:extLst>
          </p:cNvPr>
          <p:cNvSpPr>
            <a:spLocks noGrp="1"/>
          </p:cNvSpPr>
          <p:nvPr/>
        </p:nvSpPr>
        <p:spPr>
          <a:xfrm>
            <a:off x="4400550" y="2571750"/>
            <a:ext cx="1476375" cy="1104900"/>
          </a:xfrm>
          <a:prstGeom prst="roundRect">
            <a:avLst>
              <a:gd name="adj" fmla="val 6897"/>
            </a:avLst>
          </a:prstGeom>
          <a:solidFill>
            <a:srgbClr val="263751"/>
          </a:solidFill>
          <a:ln w="9525">
            <a:solidFill>
              <a:srgbClr val="3A4A64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276281-CD22-4DAE-9973-5D9C01351098}"/>
              </a:ext>
            </a:extLst>
          </p:cNvPr>
          <p:cNvSpPr>
            <a:spLocks noGrp="1"/>
          </p:cNvSpPr>
          <p:nvPr/>
        </p:nvSpPr>
        <p:spPr>
          <a:xfrm>
            <a:off x="4533900" y="2705100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主笔生成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93C8DAC-9733-41F8-8201-62161129DA05}"/>
              </a:ext>
            </a:extLst>
          </p:cNvPr>
          <p:cNvSpPr>
            <a:spLocks noGrp="1"/>
          </p:cNvSpPr>
          <p:nvPr/>
        </p:nvSpPr>
        <p:spPr>
          <a:xfrm>
            <a:off x="4533900" y="3048000"/>
            <a:ext cx="12096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建立书名、简介、目录、导言、正文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6D7E4D-0FAC-4359-8664-65950A865A54}"/>
              </a:ext>
            </a:extLst>
          </p:cNvPr>
          <p:cNvSpPr>
            <a:spLocks noGrp="1"/>
          </p:cNvSpPr>
          <p:nvPr/>
        </p:nvSpPr>
        <p:spPr>
          <a:xfrm>
            <a:off x="4533900" y="3524250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C7C2330-D0A4-4F66-A4CD-473120F9A002}"/>
              </a:ext>
            </a:extLst>
          </p:cNvPr>
          <p:cNvSpPr>
            <a:spLocks noGrp="1"/>
          </p:cNvSpPr>
          <p:nvPr/>
        </p:nvSpPr>
        <p:spPr>
          <a:xfrm>
            <a:off x="5905500" y="3124200"/>
            <a:ext cx="333375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22267732-D0B9-46A2-9037-DDE4BEF1FF0C}"/>
              </a:ext>
            </a:extLst>
          </p:cNvPr>
          <p:cNvSpPr>
            <a:spLocks noGrp="1"/>
          </p:cNvSpPr>
          <p:nvPr/>
        </p:nvSpPr>
        <p:spPr>
          <a:xfrm rot="5400000">
            <a:off x="6191250" y="30670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2644F74-1834-4AC6-AFBA-A725369CA4B6}"/>
              </a:ext>
            </a:extLst>
          </p:cNvPr>
          <p:cNvSpPr>
            <a:spLocks noGrp="1"/>
          </p:cNvSpPr>
          <p:nvPr/>
        </p:nvSpPr>
        <p:spPr>
          <a:xfrm>
            <a:off x="6257925" y="3257550"/>
            <a:ext cx="1476375" cy="1104900"/>
          </a:xfrm>
          <a:prstGeom prst="roundRect">
            <a:avLst>
              <a:gd name="adj" fmla="val 689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3A4720-8075-4AED-A5F5-2236CF437DAA}"/>
              </a:ext>
            </a:extLst>
          </p:cNvPr>
          <p:cNvSpPr>
            <a:spLocks noGrp="1"/>
          </p:cNvSpPr>
          <p:nvPr/>
        </p:nvSpPr>
        <p:spPr>
          <a:xfrm>
            <a:off x="6391275" y="3390900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专项审稿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521650E-7789-49FF-AB4A-928542AFF32B}"/>
              </a:ext>
            </a:extLst>
          </p:cNvPr>
          <p:cNvSpPr>
            <a:spLocks noGrp="1"/>
          </p:cNvSpPr>
          <p:nvPr/>
        </p:nvSpPr>
        <p:spPr>
          <a:xfrm>
            <a:off x="6391275" y="3733800"/>
            <a:ext cx="12096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纠偏题材、重复、跑题和空泛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9DE4246-DF41-4F4F-9DBC-45C43ED5EB70}"/>
              </a:ext>
            </a:extLst>
          </p:cNvPr>
          <p:cNvSpPr>
            <a:spLocks noGrp="1"/>
          </p:cNvSpPr>
          <p:nvPr/>
        </p:nvSpPr>
        <p:spPr>
          <a:xfrm>
            <a:off x="6391275" y="4210050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EAEB66-DC76-41EB-AF8C-7346F6403E80}"/>
              </a:ext>
            </a:extLst>
          </p:cNvPr>
          <p:cNvSpPr>
            <a:spLocks noGrp="1"/>
          </p:cNvSpPr>
          <p:nvPr/>
        </p:nvSpPr>
        <p:spPr>
          <a:xfrm>
            <a:off x="7762875" y="3810000"/>
            <a:ext cx="333375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C5C62F9A-B2B5-4332-935A-37B96ABCF753}"/>
              </a:ext>
            </a:extLst>
          </p:cNvPr>
          <p:cNvSpPr>
            <a:spLocks noGrp="1"/>
          </p:cNvSpPr>
          <p:nvPr/>
        </p:nvSpPr>
        <p:spPr>
          <a:xfrm rot="5400000">
            <a:off x="8048625" y="37528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D9A9600-4958-40E5-86DD-647ED811C3E8}"/>
              </a:ext>
            </a:extLst>
          </p:cNvPr>
          <p:cNvSpPr>
            <a:spLocks noGrp="1"/>
          </p:cNvSpPr>
          <p:nvPr/>
        </p:nvSpPr>
        <p:spPr>
          <a:xfrm>
            <a:off x="8115300" y="2571750"/>
            <a:ext cx="1476375" cy="1104900"/>
          </a:xfrm>
          <a:prstGeom prst="roundRect">
            <a:avLst>
              <a:gd name="adj" fmla="val 689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31E944A-0768-47BB-8603-34E373662D11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Gemini 润色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AC9A41C-51C5-4384-99A6-75B5F2C4C33A}"/>
              </a:ext>
            </a:extLst>
          </p:cNvPr>
          <p:cNvSpPr>
            <a:spLocks noGrp="1"/>
          </p:cNvSpPr>
          <p:nvPr/>
        </p:nvSpPr>
        <p:spPr>
          <a:xfrm>
            <a:off x="8248650" y="3048000"/>
            <a:ext cx="12096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段落级一润 + 全文二润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A1C57A8-5ED4-4678-BB14-43087A605897}"/>
              </a:ext>
            </a:extLst>
          </p:cNvPr>
          <p:cNvSpPr>
            <a:spLocks noGrp="1"/>
          </p:cNvSpPr>
          <p:nvPr/>
        </p:nvSpPr>
        <p:spPr>
          <a:xfrm>
            <a:off x="8248650" y="3524250"/>
            <a:ext cx="40005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9872E77-F86C-4930-9BDF-C5E210F981FD}"/>
              </a:ext>
            </a:extLst>
          </p:cNvPr>
          <p:cNvSpPr>
            <a:spLocks noGrp="1"/>
          </p:cNvSpPr>
          <p:nvPr/>
        </p:nvSpPr>
        <p:spPr>
          <a:xfrm>
            <a:off x="9620250" y="3124200"/>
            <a:ext cx="333375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E4BA9EB2-FE76-4ED0-AA0C-234FE65402DB}"/>
              </a:ext>
            </a:extLst>
          </p:cNvPr>
          <p:cNvSpPr>
            <a:spLocks noGrp="1"/>
          </p:cNvSpPr>
          <p:nvPr/>
        </p:nvSpPr>
        <p:spPr>
          <a:xfrm rot="5400000">
            <a:off x="9906000" y="30670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181F730-A12E-4865-845A-929AC9C35B79}"/>
              </a:ext>
            </a:extLst>
          </p:cNvPr>
          <p:cNvSpPr>
            <a:spLocks noGrp="1"/>
          </p:cNvSpPr>
          <p:nvPr/>
        </p:nvSpPr>
        <p:spPr>
          <a:xfrm>
            <a:off x="9972675" y="3257550"/>
            <a:ext cx="1476375" cy="1104900"/>
          </a:xfrm>
          <a:prstGeom prst="roundRect">
            <a:avLst>
              <a:gd name="adj" fmla="val 689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BBF90A5-C202-444F-9BB4-25CB3D897BD4}"/>
              </a:ext>
            </a:extLst>
          </p:cNvPr>
          <p:cNvSpPr>
            <a:spLocks noGrp="1"/>
          </p:cNvSpPr>
          <p:nvPr/>
        </p:nvSpPr>
        <p:spPr>
          <a:xfrm>
            <a:off x="10106025" y="3390900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终稿格式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1B19AAE-4CD2-4443-9E15-536E843D1C7B}"/>
              </a:ext>
            </a:extLst>
          </p:cNvPr>
          <p:cNvSpPr>
            <a:spLocks noGrp="1"/>
          </p:cNvSpPr>
          <p:nvPr/>
        </p:nvSpPr>
        <p:spPr>
          <a:xfrm>
            <a:off x="10106025" y="3733800"/>
            <a:ext cx="12096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结构统一、格式规整、可下载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77580E0-EB1A-4090-BFBE-48A8E05EB209}"/>
              </a:ext>
            </a:extLst>
          </p:cNvPr>
          <p:cNvSpPr>
            <a:spLocks noGrp="1"/>
          </p:cNvSpPr>
          <p:nvPr/>
        </p:nvSpPr>
        <p:spPr>
          <a:xfrm>
            <a:off x="10106025" y="4210050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B8BE43C-7974-4EBB-8853-79A17DFD0CF3}"/>
              </a:ext>
            </a:extLst>
          </p:cNvPr>
          <p:cNvSpPr>
            <a:spLocks noGrp="1"/>
          </p:cNvSpPr>
          <p:nvPr/>
        </p:nvSpPr>
        <p:spPr>
          <a:xfrm>
            <a:off x="1143000" y="533400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 i="0">
                <a:solidFill>
                  <a:srgbClr val="E7DCCB"/>
                </a:solidFill>
                <a:latin typeface="Microsoft YaHei"/>
                <a:ea typeface="Microsoft YaHei"/>
                <a:cs typeface="Microsoft YaHei"/>
              </a:defRPr>
            </a:pPr>
            <a:r>
              <a:t>阶段缓存与断点续跑贯穿全流程，长文本任务失败后可从中间继续，不必全部重来。</a:t>
            </a:r>
          </a:p>
        </p:txBody>
      </p:sp>
    </p:spTree>
    <p:extLst>
      <p:ext uri="{BB962C8B-B14F-4D97-AF65-F5344CB8AC3E}">
        <p14:creationId xmlns:p14="http://schemas.microsoft.com/office/powerpoint/2010/main" val="209674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45E31433-DB3A-4C20-8340-26F93EDC7D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F9C414-D717-4231-B748-FE6BFEF3B33A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8CAD9D5-C27F-460E-A33E-B081CD47F79E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76200" cy="7620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11152A-7194-4EEC-A8C0-620E1F2D17E6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 i="0">
                <a:solidFill>
                  <a:srgbClr val="E3C77A"/>
                </a:solidFill>
                <a:latin typeface="Aptos"/>
                <a:ea typeface="Aptos"/>
                <a:cs typeface="Aptos"/>
              </a:defRPr>
            </a:pPr>
            <a:r>
              <a:t>MODEL ROLES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E44384-315A-4E7B-A321-65D9FE8F98B4}"/>
              </a:ext>
            </a:extLst>
          </p:cNvPr>
          <p:cNvSpPr>
            <a:spLocks noGrp="1"/>
          </p:cNvSpPr>
          <p:nvPr/>
        </p:nvSpPr>
        <p:spPr>
          <a:xfrm>
            <a:off x="10810875" y="361950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900" b="0" i="0">
                <a:solidFill>
                  <a:srgbClr val="8E99A8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C0F929-96F8-4B15-92D2-6352CEF81706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9347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3F5373-A477-4881-A0D7-74E0466B1278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多模型不是堆接口，而是分工协作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DE7F27-9000-40AD-93AC-65F80017F02B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每个模型只承担它最适合的生产责任。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6460607-2542-4527-884C-92143EF5A111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3000375" cy="2476500"/>
          </a:xfrm>
          <a:prstGeom prst="roundRect">
            <a:avLst>
              <a:gd name="adj" fmla="val 3077"/>
            </a:avLst>
          </a:prstGeom>
          <a:solidFill>
            <a:srgbClr val="1D2A3E"/>
          </a:solidFill>
          <a:ln w="9525">
            <a:solidFill>
              <a:srgbClr val="40506A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58796B-847F-4C5A-9A68-B2C6FD5885D4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3000375" cy="4762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A2478D-2F7E-44ED-A02A-3C13FCDB0DA0}"/>
              </a:ext>
            </a:extLst>
          </p:cNvPr>
          <p:cNvSpPr>
            <a:spLocks noGrp="1"/>
          </p:cNvSpPr>
          <p:nvPr/>
        </p:nvSpPr>
        <p:spPr>
          <a:xfrm>
            <a:off x="1104900" y="2714625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ChatGPT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00B9F5-8ED0-4FEC-9554-CDC7C19683F6}"/>
              </a:ext>
            </a:extLst>
          </p:cNvPr>
          <p:cNvSpPr>
            <a:spLocks noGrp="1"/>
          </p:cNvSpPr>
          <p:nvPr/>
        </p:nvSpPr>
        <p:spPr>
          <a:xfrm>
            <a:off x="1104900" y="32575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1" i="0">
                <a:solidFill>
                  <a:srgbClr val="C5A15B"/>
                </a:solidFill>
                <a:latin typeface="Microsoft YaHei"/>
                <a:ea typeface="Microsoft YaHei"/>
                <a:cs typeface="Microsoft YaHei"/>
              </a:defRPr>
            </a:pPr>
            <a:r>
              <a:t>主笔与内容架构师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0BFEE3-8869-4ADF-A0BC-FFFD981AAB0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长文结构、题材策略、第一版完整书稿、专项审稿。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C4674A0-DD4F-4A12-B3D7-E40F94F642DB}"/>
              </a:ext>
            </a:extLst>
          </p:cNvPr>
          <p:cNvSpPr>
            <a:spLocks noGrp="1"/>
          </p:cNvSpPr>
          <p:nvPr/>
        </p:nvSpPr>
        <p:spPr>
          <a:xfrm>
            <a:off x="4591050" y="2381250"/>
            <a:ext cx="3000375" cy="2476500"/>
          </a:xfrm>
          <a:prstGeom prst="roundRect">
            <a:avLst>
              <a:gd name="adj" fmla="val 3077"/>
            </a:avLst>
          </a:prstGeom>
          <a:solidFill>
            <a:srgbClr val="1D2A3E"/>
          </a:solidFill>
          <a:ln w="9525">
            <a:solidFill>
              <a:srgbClr val="40506A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44949F-475A-4FCE-B10C-A90B819A8423}"/>
              </a:ext>
            </a:extLst>
          </p:cNvPr>
          <p:cNvSpPr>
            <a:spLocks noGrp="1"/>
          </p:cNvSpPr>
          <p:nvPr/>
        </p:nvSpPr>
        <p:spPr>
          <a:xfrm>
            <a:off x="4591050" y="2381250"/>
            <a:ext cx="3000375" cy="4762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C981BC-ADC6-415D-9787-0C20362F9CC7}"/>
              </a:ext>
            </a:extLst>
          </p:cNvPr>
          <p:cNvSpPr>
            <a:spLocks noGrp="1"/>
          </p:cNvSpPr>
          <p:nvPr/>
        </p:nvSpPr>
        <p:spPr>
          <a:xfrm>
            <a:off x="4819650" y="2714625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Gemini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4C44AE-3553-40EF-891A-83D9425E5CEE}"/>
              </a:ext>
            </a:extLst>
          </p:cNvPr>
          <p:cNvSpPr>
            <a:spLocks noGrp="1"/>
          </p:cNvSpPr>
          <p:nvPr/>
        </p:nvSpPr>
        <p:spPr>
          <a:xfrm>
            <a:off x="4819650" y="32575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1" i="0">
                <a:solidFill>
                  <a:srgbClr val="6FA18C"/>
                </a:solidFill>
                <a:latin typeface="Microsoft YaHei"/>
                <a:ea typeface="Microsoft YaHei"/>
                <a:cs typeface="Microsoft YaHei"/>
              </a:defRPr>
            </a:pPr>
            <a:r>
              <a:t>高速语言修订器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AE3DC7-9E15-4106-8D45-3F23EF10E9DE}"/>
              </a:ext>
            </a:extLst>
          </p:cNvPr>
          <p:cNvSpPr>
            <a:spLocks noGrp="1"/>
          </p:cNvSpPr>
          <p:nvPr/>
        </p:nvSpPr>
        <p:spPr>
          <a:xfrm>
            <a:off x="4819650" y="379095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段落级一润、全文二润、表达顺滑、语气统一。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EC67496-E3AC-4B98-8D5D-01AE0137272C}"/>
              </a:ext>
            </a:extLst>
          </p:cNvPr>
          <p:cNvSpPr>
            <a:spLocks noGrp="1"/>
          </p:cNvSpPr>
          <p:nvPr/>
        </p:nvSpPr>
        <p:spPr>
          <a:xfrm>
            <a:off x="8305800" y="2381250"/>
            <a:ext cx="3000375" cy="2476500"/>
          </a:xfrm>
          <a:prstGeom prst="roundRect">
            <a:avLst>
              <a:gd name="adj" fmla="val 3077"/>
            </a:avLst>
          </a:prstGeom>
          <a:solidFill>
            <a:srgbClr val="1D2A3E"/>
          </a:solidFill>
          <a:ln w="9525">
            <a:solidFill>
              <a:srgbClr val="40506A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88AEB37-7ABC-4309-AE20-9FC0C308605C}"/>
              </a:ext>
            </a:extLst>
          </p:cNvPr>
          <p:cNvSpPr>
            <a:spLocks noGrp="1"/>
          </p:cNvSpPr>
          <p:nvPr/>
        </p:nvSpPr>
        <p:spPr>
          <a:xfrm>
            <a:off x="8305800" y="2381250"/>
            <a:ext cx="3000375" cy="47625"/>
          </a:xfrm>
          <a:prstGeom prst="rect">
            <a:avLst/>
          </a:prstGeom>
          <a:solidFill>
            <a:srgbClr val="5E7FA3"/>
          </a:solidFill>
          <a:ln w="0">
            <a:solidFill>
              <a:srgbClr val="5E7FA3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4C5916-A335-4A74-80C1-8996A7987988}"/>
              </a:ext>
            </a:extLst>
          </p:cNvPr>
          <p:cNvSpPr>
            <a:spLocks noGrp="1"/>
          </p:cNvSpPr>
          <p:nvPr/>
        </p:nvSpPr>
        <p:spPr>
          <a:xfrm>
            <a:off x="8534400" y="2714625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DeepSeek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93F195-CAC3-43CA-8CA6-795602E265E4}"/>
              </a:ext>
            </a:extLst>
          </p:cNvPr>
          <p:cNvSpPr>
            <a:spLocks noGrp="1"/>
          </p:cNvSpPr>
          <p:nvPr/>
        </p:nvSpPr>
        <p:spPr>
          <a:xfrm>
            <a:off x="8534400" y="32575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1" i="0">
                <a:solidFill>
                  <a:srgbClr val="5E7FA3"/>
                </a:solidFill>
                <a:latin typeface="Microsoft YaHei"/>
                <a:ea typeface="Microsoft YaHei"/>
                <a:cs typeface="Microsoft YaHei"/>
              </a:defRPr>
            </a:pPr>
            <a:r>
              <a:t>终稿格式整理器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CA1314-D801-4ABB-8FB4-4F150277A558}"/>
              </a:ext>
            </a:extLst>
          </p:cNvPr>
          <p:cNvSpPr>
            <a:spLocks noGrp="1"/>
          </p:cNvSpPr>
          <p:nvPr/>
        </p:nvSpPr>
        <p:spPr>
          <a:xfrm>
            <a:off x="8534400" y="379095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书名、简介、目录、导言、正文结构统一，输出可交付终稿。</a:t>
            </a:r>
          </a:p>
        </p:txBody>
      </p:sp>
    </p:spTree>
    <p:extLst>
      <p:ext uri="{BB962C8B-B14F-4D97-AF65-F5344CB8AC3E}">
        <p14:creationId xmlns:p14="http://schemas.microsoft.com/office/powerpoint/2010/main" val="338395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792EB3EB-0823-49A8-84C7-D6D053575B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CEC097-93D1-4B34-8D4E-1A12A5E1C66E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C0ACE3A-A690-4ED5-AF53-53BD398000E7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76200" cy="7620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DE606E-92C3-40E9-A237-FF2B4A0F36A2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 i="0">
                <a:solidFill>
                  <a:srgbClr val="E3C77A"/>
                </a:solidFill>
                <a:latin typeface="Aptos"/>
                <a:ea typeface="Aptos"/>
                <a:cs typeface="Aptos"/>
              </a:defRPr>
            </a:pPr>
            <a:r>
              <a:t>CATEGORY ENGINE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61B855-28CC-4D58-9C81-B57B82A34C1C}"/>
              </a:ext>
            </a:extLst>
          </p:cNvPr>
          <p:cNvSpPr>
            <a:spLocks noGrp="1"/>
          </p:cNvSpPr>
          <p:nvPr/>
        </p:nvSpPr>
        <p:spPr>
          <a:xfrm>
            <a:off x="10810875" y="361950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900" b="0" i="0">
                <a:solidFill>
                  <a:srgbClr val="8E99A8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BDD16F-BBBD-45D5-8331-B97A5D4C9F62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9347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DC4119-CE51-4909-940A-3240ADF79480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不同书籍类型走不同创作策略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8EA2B7-9503-45EA-B7A2-26903749E550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系统不是所有题材共用一套写法，而是按品类路由到专属策略。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8CFBAE-0217-43D6-B5E5-871C2308E49B}"/>
              </a:ext>
            </a:extLst>
          </p:cNvPr>
          <p:cNvSpPr>
            <a:spLocks noGrp="1"/>
          </p:cNvSpPr>
          <p:nvPr/>
        </p:nvSpPr>
        <p:spPr>
          <a:xfrm>
            <a:off x="809625" y="2381250"/>
            <a:ext cx="3000375" cy="838200"/>
          </a:xfrm>
          <a:prstGeom prst="roundRect">
            <a:avLst>
              <a:gd name="adj" fmla="val 9091"/>
            </a:avLst>
          </a:prstGeom>
          <a:solidFill>
            <a:srgbClr val="1D2A3E"/>
          </a:solidFill>
          <a:ln w="9525">
            <a:solidFill>
              <a:srgbClr val="394A63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840295-76BC-4CBF-9120-F3FB62E36C6B}"/>
              </a:ext>
            </a:extLst>
          </p:cNvPr>
          <p:cNvSpPr>
            <a:spLocks noGrp="1"/>
          </p:cNvSpPr>
          <p:nvPr/>
        </p:nvSpPr>
        <p:spPr>
          <a:xfrm>
            <a:off x="1000125" y="25527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经典解读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A5F2F7-7640-41DB-8B11-E7318A0E85F8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原文细读 / 误读辨析 / 场景化解释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B3A9D8-93F2-4771-B10D-51E55E6E7701}"/>
              </a:ext>
            </a:extLst>
          </p:cNvPr>
          <p:cNvSpPr>
            <a:spLocks noGrp="1"/>
          </p:cNvSpPr>
          <p:nvPr/>
        </p:nvSpPr>
        <p:spPr>
          <a:xfrm>
            <a:off x="3286125" y="2571750"/>
            <a:ext cx="3238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4D45013-19E4-4A12-8BC8-C89D98FE83BA}"/>
              </a:ext>
            </a:extLst>
          </p:cNvPr>
          <p:cNvSpPr>
            <a:spLocks noGrp="1"/>
          </p:cNvSpPr>
          <p:nvPr/>
        </p:nvSpPr>
        <p:spPr>
          <a:xfrm>
            <a:off x="4381500" y="2381250"/>
            <a:ext cx="3000375" cy="838200"/>
          </a:xfrm>
          <a:prstGeom prst="roundRect">
            <a:avLst>
              <a:gd name="adj" fmla="val 9091"/>
            </a:avLst>
          </a:prstGeom>
          <a:solidFill>
            <a:srgbClr val="1D2A3E"/>
          </a:solidFill>
          <a:ln w="9525">
            <a:solidFill>
              <a:srgbClr val="394A63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24D4E7-1EC8-40FF-9C26-4CFB23611E17}"/>
              </a:ext>
            </a:extLst>
          </p:cNvPr>
          <p:cNvSpPr>
            <a:spLocks noGrp="1"/>
          </p:cNvSpPr>
          <p:nvPr/>
        </p:nvSpPr>
        <p:spPr>
          <a:xfrm>
            <a:off x="4572000" y="25527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社会痛点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BD0C36-AB71-44DD-B648-BE3E99FAC3CE}"/>
              </a:ext>
            </a:extLst>
          </p:cNvPr>
          <p:cNvSpPr>
            <a:spLocks noGrp="1"/>
          </p:cNvSpPr>
          <p:nvPr/>
        </p:nvSpPr>
        <p:spPr>
          <a:xfrm>
            <a:off x="4572000" y="28575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现实处境 / 结构问题 / 具体人物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BF61D2-AEBD-44FE-9FFC-E7B1D5964219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32385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A89B4E4-FC58-4D86-9272-4A02BAE32E13}"/>
              </a:ext>
            </a:extLst>
          </p:cNvPr>
          <p:cNvSpPr>
            <a:spLocks noGrp="1"/>
          </p:cNvSpPr>
          <p:nvPr/>
        </p:nvSpPr>
        <p:spPr>
          <a:xfrm>
            <a:off x="7953375" y="2381250"/>
            <a:ext cx="3000375" cy="838200"/>
          </a:xfrm>
          <a:prstGeom prst="roundRect">
            <a:avLst>
              <a:gd name="adj" fmla="val 9091"/>
            </a:avLst>
          </a:prstGeom>
          <a:solidFill>
            <a:srgbClr val="1D2A3E"/>
          </a:solidFill>
          <a:ln w="9525">
            <a:solidFill>
              <a:srgbClr val="394A63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0A274F-0297-4367-8EAB-BBE2AE67762D}"/>
              </a:ext>
            </a:extLst>
          </p:cNvPr>
          <p:cNvSpPr>
            <a:spLocks noGrp="1"/>
          </p:cNvSpPr>
          <p:nvPr/>
        </p:nvSpPr>
        <p:spPr>
          <a:xfrm>
            <a:off x="8143875" y="25527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人生哲理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00F266-988E-4A7F-8B9B-8A623310ABDC}"/>
              </a:ext>
            </a:extLst>
          </p:cNvPr>
          <p:cNvSpPr>
            <a:spLocks noGrp="1"/>
          </p:cNvSpPr>
          <p:nvPr/>
        </p:nvSpPr>
        <p:spPr>
          <a:xfrm>
            <a:off x="8143875" y="28575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故事牵引 / 低鸡汤 / 高共鸣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C7CFD3-6875-49F0-8667-58561A2ADB27}"/>
              </a:ext>
            </a:extLst>
          </p:cNvPr>
          <p:cNvSpPr>
            <a:spLocks noGrp="1"/>
          </p:cNvSpPr>
          <p:nvPr/>
        </p:nvSpPr>
        <p:spPr>
          <a:xfrm>
            <a:off x="10429875" y="2571750"/>
            <a:ext cx="32385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DF541C4-47E7-42D6-A325-DDD3E5576A1A}"/>
              </a:ext>
            </a:extLst>
          </p:cNvPr>
          <p:cNvSpPr>
            <a:spLocks noGrp="1"/>
          </p:cNvSpPr>
          <p:nvPr/>
        </p:nvSpPr>
        <p:spPr>
          <a:xfrm>
            <a:off x="809625" y="3600450"/>
            <a:ext cx="3000375" cy="838200"/>
          </a:xfrm>
          <a:prstGeom prst="roundRect">
            <a:avLst>
              <a:gd name="adj" fmla="val 9091"/>
            </a:avLst>
          </a:prstGeom>
          <a:solidFill>
            <a:srgbClr val="1D2A3E"/>
          </a:solidFill>
          <a:ln w="9525">
            <a:solidFill>
              <a:srgbClr val="394A63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68877EE-F710-4D52-9D6F-D9EC97D2DA62}"/>
              </a:ext>
            </a:extLst>
          </p:cNvPr>
          <p:cNvSpPr>
            <a:spLocks noGrp="1"/>
          </p:cNvSpPr>
          <p:nvPr/>
        </p:nvSpPr>
        <p:spPr>
          <a:xfrm>
            <a:off x="1000125" y="37719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人物传记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7A4A6EB-29D0-4099-90EF-C4B6E4320776}"/>
              </a:ext>
            </a:extLst>
          </p:cNvPr>
          <p:cNvSpPr>
            <a:spLocks noGrp="1"/>
          </p:cNvSpPr>
          <p:nvPr/>
        </p:nvSpPr>
        <p:spPr>
          <a:xfrm>
            <a:off x="1000125" y="407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人生阶段 / 关键选择 / 命运转折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4431A1F-BC0A-4EC4-834A-2966F4CA9CBC}"/>
              </a:ext>
            </a:extLst>
          </p:cNvPr>
          <p:cNvSpPr>
            <a:spLocks noGrp="1"/>
          </p:cNvSpPr>
          <p:nvPr/>
        </p:nvSpPr>
        <p:spPr>
          <a:xfrm>
            <a:off x="3286125" y="3790950"/>
            <a:ext cx="32385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8123B88-3B45-4A92-99C3-D20D167595A9}"/>
              </a:ext>
            </a:extLst>
          </p:cNvPr>
          <p:cNvSpPr>
            <a:spLocks noGrp="1"/>
          </p:cNvSpPr>
          <p:nvPr/>
        </p:nvSpPr>
        <p:spPr>
          <a:xfrm>
            <a:off x="4381500" y="3600450"/>
            <a:ext cx="3000375" cy="838200"/>
          </a:xfrm>
          <a:prstGeom prst="roundRect">
            <a:avLst>
              <a:gd name="adj" fmla="val 9091"/>
            </a:avLst>
          </a:prstGeom>
          <a:solidFill>
            <a:srgbClr val="1D2A3E"/>
          </a:solidFill>
          <a:ln w="9525">
            <a:solidFill>
              <a:srgbClr val="394A63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23E57E-EFFD-4CFA-B0DE-9525FB18C1A1}"/>
              </a:ext>
            </a:extLst>
          </p:cNvPr>
          <p:cNvSpPr>
            <a:spLocks noGrp="1"/>
          </p:cNvSpPr>
          <p:nvPr/>
        </p:nvSpPr>
        <p:spPr>
          <a:xfrm>
            <a:off x="4572000" y="37719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网文短篇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65B7D8-A041-4DF7-A563-22A13C48E2A7}"/>
              </a:ext>
            </a:extLst>
          </p:cNvPr>
          <p:cNvSpPr>
            <a:spLocks noGrp="1"/>
          </p:cNvSpPr>
          <p:nvPr/>
        </p:nvSpPr>
        <p:spPr>
          <a:xfrm>
            <a:off x="4572000" y="407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强设定 / 强冲突 / 快节奏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3776F3-D122-4BBB-98A4-6EDA3754C435}"/>
              </a:ext>
            </a:extLst>
          </p:cNvPr>
          <p:cNvSpPr>
            <a:spLocks noGrp="1"/>
          </p:cNvSpPr>
          <p:nvPr/>
        </p:nvSpPr>
        <p:spPr>
          <a:xfrm>
            <a:off x="6858000" y="3790950"/>
            <a:ext cx="32385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064D5E5-3FFD-48A5-91BF-5042A3F980D7}"/>
              </a:ext>
            </a:extLst>
          </p:cNvPr>
          <p:cNvSpPr>
            <a:spLocks noGrp="1"/>
          </p:cNvSpPr>
          <p:nvPr/>
        </p:nvSpPr>
        <p:spPr>
          <a:xfrm>
            <a:off x="7953375" y="3600450"/>
            <a:ext cx="3000375" cy="838200"/>
          </a:xfrm>
          <a:prstGeom prst="roundRect">
            <a:avLst>
              <a:gd name="adj" fmla="val 9091"/>
            </a:avLst>
          </a:prstGeom>
          <a:solidFill>
            <a:srgbClr val="1D2A3E"/>
          </a:solidFill>
          <a:ln w="9525">
            <a:solidFill>
              <a:srgbClr val="394A63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EF7FF79-2262-4161-8632-D2162B47D9B6}"/>
              </a:ext>
            </a:extLst>
          </p:cNvPr>
          <p:cNvSpPr>
            <a:spLocks noGrp="1"/>
          </p:cNvSpPr>
          <p:nvPr/>
        </p:nvSpPr>
        <p:spPr>
          <a:xfrm>
            <a:off x="8143875" y="37719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可扩展类型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248161-D2D6-4D92-8F98-A533394AE977}"/>
              </a:ext>
            </a:extLst>
          </p:cNvPr>
          <p:cNvSpPr>
            <a:spLocks noGrp="1"/>
          </p:cNvSpPr>
          <p:nvPr/>
        </p:nvSpPr>
        <p:spPr>
          <a:xfrm>
            <a:off x="8143875" y="407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根据行业继续定制专属策略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A6A9D7E-E944-4566-9FD4-3C50F85C67B5}"/>
              </a:ext>
            </a:extLst>
          </p:cNvPr>
          <p:cNvSpPr>
            <a:spLocks noGrp="1"/>
          </p:cNvSpPr>
          <p:nvPr/>
        </p:nvSpPr>
        <p:spPr>
          <a:xfrm>
            <a:off x="10429875" y="3790950"/>
            <a:ext cx="32385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</p:spTree>
    <p:extLst>
      <p:ext uri="{BB962C8B-B14F-4D97-AF65-F5344CB8AC3E}">
        <p14:creationId xmlns:p14="http://schemas.microsoft.com/office/powerpoint/2010/main" val="185684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78E06432-C9A4-4F6D-82F1-F660C99D09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41F467-7DA3-4F6B-B4EE-5E862BBA892D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62B23B1-4B07-4157-BBDF-C981C9B00E1D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76200" cy="7620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F06884-D862-42F0-8CA3-D9B7DAD252F8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 i="0">
                <a:solidFill>
                  <a:srgbClr val="E3C77A"/>
                </a:solidFill>
                <a:latin typeface="Aptos"/>
                <a:ea typeface="Aptos"/>
                <a:cs typeface="Aptos"/>
              </a:defRPr>
            </a:pPr>
            <a:r>
              <a:t>QUALITY LOOP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5D9F29-39C1-4DDD-B01B-970C841E6981}"/>
              </a:ext>
            </a:extLst>
          </p:cNvPr>
          <p:cNvSpPr>
            <a:spLocks noGrp="1"/>
          </p:cNvSpPr>
          <p:nvPr/>
        </p:nvSpPr>
        <p:spPr>
          <a:xfrm>
            <a:off x="10810875" y="361950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900" b="0" i="0">
                <a:solidFill>
                  <a:srgbClr val="8E99A8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2F1322-E188-4584-ACD5-2D25012EEB29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9347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DA3C33-B02B-4C2C-977A-8B44122490A6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质量控制不是最后补救，而是嵌入每一层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2F0AE0-112F-4BB6-A830-D83C0A14BB56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长文本最怕跑题、重复、断句、格式乱和中途失败，系统都做了对应防线。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8798D3B-2CC8-48F9-A0FD-2ED8FC754EE0}"/>
              </a:ext>
            </a:extLst>
          </p:cNvPr>
          <p:cNvSpPr>
            <a:spLocks noGrp="1"/>
          </p:cNvSpPr>
          <p:nvPr/>
        </p:nvSpPr>
        <p:spPr>
          <a:xfrm>
            <a:off x="857250" y="2276475"/>
            <a:ext cx="247650" cy="24765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F90CD5-6794-4B80-AF2A-C596B8203688}"/>
              </a:ext>
            </a:extLst>
          </p:cNvPr>
          <p:cNvSpPr>
            <a:spLocks noGrp="1"/>
          </p:cNvSpPr>
          <p:nvPr/>
        </p:nvSpPr>
        <p:spPr>
          <a:xfrm>
            <a:off x="857250" y="2314575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825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DE595D-3F97-4382-9F1C-BE96E52353C7}"/>
              </a:ext>
            </a:extLst>
          </p:cNvPr>
          <p:cNvSpPr>
            <a:spLocks noGrp="1"/>
          </p:cNvSpPr>
          <p:nvPr/>
        </p:nvSpPr>
        <p:spPr>
          <a:xfrm>
            <a:off x="1295400" y="221932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专项审稿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D06018-AFA0-44AD-9CF6-0FFE944BA362}"/>
              </a:ext>
            </a:extLst>
          </p:cNvPr>
          <p:cNvSpPr>
            <a:spLocks noGrp="1"/>
          </p:cNvSpPr>
          <p:nvPr/>
        </p:nvSpPr>
        <p:spPr>
          <a:xfrm>
            <a:off x="2952750" y="2238375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分类后对题材错位、重复导言、空泛观点进行纠偏。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F7E452-D627-4847-82A4-21BAFC136B3A}"/>
              </a:ext>
            </a:extLst>
          </p:cNvPr>
          <p:cNvSpPr>
            <a:spLocks noGrp="1"/>
          </p:cNvSpPr>
          <p:nvPr/>
        </p:nvSpPr>
        <p:spPr>
          <a:xfrm>
            <a:off x="1295400" y="2676525"/>
            <a:ext cx="81915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B03E237-04F2-487B-9B12-C849461708FA}"/>
              </a:ext>
            </a:extLst>
          </p:cNvPr>
          <p:cNvSpPr>
            <a:spLocks noGrp="1"/>
          </p:cNvSpPr>
          <p:nvPr/>
        </p:nvSpPr>
        <p:spPr>
          <a:xfrm>
            <a:off x="857250" y="2943225"/>
            <a:ext cx="247650" cy="247650"/>
          </a:xfrm>
          <a:prstGeom prst="ellipse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9A5EAA-E83E-4AFC-B52C-778493692C30}"/>
              </a:ext>
            </a:extLst>
          </p:cNvPr>
          <p:cNvSpPr>
            <a:spLocks noGrp="1"/>
          </p:cNvSpPr>
          <p:nvPr/>
        </p:nvSpPr>
        <p:spPr>
          <a:xfrm>
            <a:off x="857250" y="2981325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825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1B79D8-5776-4C26-9E96-5D5A34F5DCCF}"/>
              </a:ext>
            </a:extLst>
          </p:cNvPr>
          <p:cNvSpPr>
            <a:spLocks noGrp="1"/>
          </p:cNvSpPr>
          <p:nvPr/>
        </p:nvSpPr>
        <p:spPr>
          <a:xfrm>
            <a:off x="1295400" y="288607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段落级切块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3D6D8B-910B-460A-BCE0-AB4402387F0D}"/>
              </a:ext>
            </a:extLst>
          </p:cNvPr>
          <p:cNvSpPr>
            <a:spLocks noGrp="1"/>
          </p:cNvSpPr>
          <p:nvPr/>
        </p:nvSpPr>
        <p:spPr>
          <a:xfrm>
            <a:off x="2952750" y="2905125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长文按完整段落处理，降低超长文本失败和断裂风险。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A6485E-4236-40C9-9EAC-DB2F7C324A36}"/>
              </a:ext>
            </a:extLst>
          </p:cNvPr>
          <p:cNvSpPr>
            <a:spLocks noGrp="1"/>
          </p:cNvSpPr>
          <p:nvPr/>
        </p:nvSpPr>
        <p:spPr>
          <a:xfrm>
            <a:off x="1295400" y="3343275"/>
            <a:ext cx="81915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28E76C7-C2B6-4043-95DA-1E1FBE0F2DF2}"/>
              </a:ext>
            </a:extLst>
          </p:cNvPr>
          <p:cNvSpPr>
            <a:spLocks noGrp="1"/>
          </p:cNvSpPr>
          <p:nvPr/>
        </p:nvSpPr>
        <p:spPr>
          <a:xfrm>
            <a:off x="857250" y="3609975"/>
            <a:ext cx="247650" cy="247650"/>
          </a:xfrm>
          <a:prstGeom prst="ellipse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36BADC-9412-4550-BA63-93513158011C}"/>
              </a:ext>
            </a:extLst>
          </p:cNvPr>
          <p:cNvSpPr>
            <a:spLocks noGrp="1"/>
          </p:cNvSpPr>
          <p:nvPr/>
        </p:nvSpPr>
        <p:spPr>
          <a:xfrm>
            <a:off x="857250" y="3648075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825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D0000F3-3B3A-431E-81EF-E477FCD20B6B}"/>
              </a:ext>
            </a:extLst>
          </p:cNvPr>
          <p:cNvSpPr>
            <a:spLocks noGrp="1"/>
          </p:cNvSpPr>
          <p:nvPr/>
        </p:nvSpPr>
        <p:spPr>
          <a:xfrm>
            <a:off x="1295400" y="355282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全文二润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D980B00-BE0A-4B9C-83C1-DAC2EB93D9B6}"/>
              </a:ext>
            </a:extLst>
          </p:cNvPr>
          <p:cNvSpPr>
            <a:spLocks noGrp="1"/>
          </p:cNvSpPr>
          <p:nvPr/>
        </p:nvSpPr>
        <p:spPr>
          <a:xfrm>
            <a:off x="2952750" y="3571875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统一语气、节奏、表达密度，减少 AI 总结腔。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D5594A8-4F87-4A43-A1CA-8DD5EA687251}"/>
              </a:ext>
            </a:extLst>
          </p:cNvPr>
          <p:cNvSpPr>
            <a:spLocks noGrp="1"/>
          </p:cNvSpPr>
          <p:nvPr/>
        </p:nvSpPr>
        <p:spPr>
          <a:xfrm>
            <a:off x="1295400" y="4010025"/>
            <a:ext cx="81915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B744334-E55A-452E-B21D-9241953FC10C}"/>
              </a:ext>
            </a:extLst>
          </p:cNvPr>
          <p:cNvSpPr>
            <a:spLocks noGrp="1"/>
          </p:cNvSpPr>
          <p:nvPr/>
        </p:nvSpPr>
        <p:spPr>
          <a:xfrm>
            <a:off x="857250" y="4276725"/>
            <a:ext cx="247650" cy="247650"/>
          </a:xfrm>
          <a:prstGeom prst="ellipse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A266EE-B63E-468B-89CC-FAAA438F0621}"/>
              </a:ext>
            </a:extLst>
          </p:cNvPr>
          <p:cNvSpPr>
            <a:spLocks noGrp="1"/>
          </p:cNvSpPr>
          <p:nvPr/>
        </p:nvSpPr>
        <p:spPr>
          <a:xfrm>
            <a:off x="857250" y="4314825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825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D97199-1FF7-4A39-B48A-BDC0D6EEA34C}"/>
              </a:ext>
            </a:extLst>
          </p:cNvPr>
          <p:cNvSpPr>
            <a:spLocks noGrp="1"/>
          </p:cNvSpPr>
          <p:nvPr/>
        </p:nvSpPr>
        <p:spPr>
          <a:xfrm>
            <a:off x="1295400" y="421957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终稿修复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F32685-287C-4108-9CE5-0191F0579ABE}"/>
              </a:ext>
            </a:extLst>
          </p:cNvPr>
          <p:cNvSpPr>
            <a:spLocks noGrp="1"/>
          </p:cNvSpPr>
          <p:nvPr/>
        </p:nvSpPr>
        <p:spPr>
          <a:xfrm>
            <a:off x="2952750" y="4238625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格式层后继续处理异常断行和结构标记。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65AFC5-AC37-4EEA-86B7-EA91B3534944}"/>
              </a:ext>
            </a:extLst>
          </p:cNvPr>
          <p:cNvSpPr>
            <a:spLocks noGrp="1"/>
          </p:cNvSpPr>
          <p:nvPr/>
        </p:nvSpPr>
        <p:spPr>
          <a:xfrm>
            <a:off x="1295400" y="4676775"/>
            <a:ext cx="81915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2A60250-C21F-4EB6-B380-008825323411}"/>
              </a:ext>
            </a:extLst>
          </p:cNvPr>
          <p:cNvSpPr>
            <a:spLocks noGrp="1"/>
          </p:cNvSpPr>
          <p:nvPr/>
        </p:nvSpPr>
        <p:spPr>
          <a:xfrm>
            <a:off x="857250" y="4943475"/>
            <a:ext cx="247650" cy="247650"/>
          </a:xfrm>
          <a:prstGeom prst="ellipse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72556C8-26A4-4547-B253-D55916D404A4}"/>
              </a:ext>
            </a:extLst>
          </p:cNvPr>
          <p:cNvSpPr>
            <a:spLocks noGrp="1"/>
          </p:cNvSpPr>
          <p:nvPr/>
        </p:nvSpPr>
        <p:spPr>
          <a:xfrm>
            <a:off x="857250" y="4981575"/>
            <a:ext cx="24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825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665805-ACFF-4097-8A6E-EA10E0AD952A}"/>
              </a:ext>
            </a:extLst>
          </p:cNvPr>
          <p:cNvSpPr>
            <a:spLocks noGrp="1"/>
          </p:cNvSpPr>
          <p:nvPr/>
        </p:nvSpPr>
        <p:spPr>
          <a:xfrm>
            <a:off x="1295400" y="488632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断点续跑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A97A556-86C5-4076-BD57-ED61F15CA681}"/>
              </a:ext>
            </a:extLst>
          </p:cNvPr>
          <p:cNvSpPr>
            <a:spLocks noGrp="1"/>
          </p:cNvSpPr>
          <p:nvPr/>
        </p:nvSpPr>
        <p:spPr>
          <a:xfrm>
            <a:off x="2952750" y="4905375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每阶段保存结果，失败后从已有阶段恢复。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2C97EB8-E68C-40E1-A6B0-6B9A2D41A390}"/>
              </a:ext>
            </a:extLst>
          </p:cNvPr>
          <p:cNvSpPr>
            <a:spLocks noGrp="1"/>
          </p:cNvSpPr>
          <p:nvPr/>
        </p:nvSpPr>
        <p:spPr>
          <a:xfrm>
            <a:off x="1295400" y="5343525"/>
            <a:ext cx="81915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07ED40A-3A17-4148-B715-374BC56F4A28}"/>
              </a:ext>
            </a:extLst>
          </p:cNvPr>
          <p:cNvSpPr>
            <a:spLocks noGrp="1"/>
          </p:cNvSpPr>
          <p:nvPr/>
        </p:nvSpPr>
        <p:spPr>
          <a:xfrm>
            <a:off x="8858250" y="104775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6F1E7"/>
          </a:solidFill>
          <a:ln w="0">
            <a:solidFill>
              <a:srgbClr val="F6F1E7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004275-24A4-40F9-B754-7FE62C60FB5C}"/>
              </a:ext>
            </a:extLst>
          </p:cNvPr>
          <p:cNvSpPr>
            <a:spLocks noGrp="1"/>
          </p:cNvSpPr>
          <p:nvPr/>
        </p:nvSpPr>
        <p:spPr>
          <a:xfrm>
            <a:off x="9124950" y="12192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稳定交付</a:t>
            </a:r>
          </a:p>
        </p:txBody>
      </p:sp>
    </p:spTree>
    <p:extLst>
      <p:ext uri="{BB962C8B-B14F-4D97-AF65-F5344CB8AC3E}">
        <p14:creationId xmlns:p14="http://schemas.microsoft.com/office/powerpoint/2010/main" val="1656579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A064AA8E-E817-438B-9987-A215A8250D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5D90AA-89C7-4D8E-81CF-3C1BFE7C46EA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1EE4DD6-87A6-4F81-9F68-44A6878D01D6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76200" cy="7620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65CFD4-A851-4A8D-BDDC-12CD055F201B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 i="0">
                <a:solidFill>
                  <a:srgbClr val="E3C77A"/>
                </a:solidFill>
                <a:latin typeface="Aptos"/>
                <a:ea typeface="Aptos"/>
                <a:cs typeface="Aptos"/>
              </a:defRPr>
            </a:pPr>
            <a:r>
              <a:t>PRODUCT SURFACE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503EDF-103F-4D38-8D66-B2ED1780A7E7}"/>
              </a:ext>
            </a:extLst>
          </p:cNvPr>
          <p:cNvSpPr>
            <a:spLocks noGrp="1"/>
          </p:cNvSpPr>
          <p:nvPr/>
        </p:nvSpPr>
        <p:spPr>
          <a:xfrm>
            <a:off x="10810875" y="361950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900" b="0" i="0">
                <a:solidFill>
                  <a:srgbClr val="8E99A8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8003FA-4CB6-488F-93F1-AD31AE0AB981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9347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750F65-9170-4E2C-8C41-98BAD6536D2B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这已经是产品化系统，不是本地脚本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071E62-F797-4EF4-8B42-17B04587637C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前端、后端、任务队列、数据库和服务器部署形成完整闭环。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66FD8C6-6F00-445F-9953-FFDB825D1A1C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6F1E7"/>
          </a:solidFill>
          <a:ln w="0">
            <a:solidFill>
              <a:srgbClr val="F6F1E7"/>
            </a:solidFill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7996160-29C2-407F-A066-124D07C0B908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4381500" cy="476250"/>
          </a:xfrm>
          <a:prstGeom prst="roundRect">
            <a:avLst>
              <a:gd name="adj" fmla="val 16000"/>
            </a:avLst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A5334D-C6DA-48F6-B894-52E74C19A94D}"/>
              </a:ext>
            </a:extLst>
          </p:cNvPr>
          <p:cNvSpPr>
            <a:spLocks noGrp="1"/>
          </p:cNvSpPr>
          <p:nvPr/>
        </p:nvSpPr>
        <p:spPr>
          <a:xfrm>
            <a:off x="1285875" y="2686050"/>
            <a:ext cx="3857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75" b="0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任务创建  |  分类选择  |  状态追踪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61DC458-6277-460A-8739-EEC97759F80D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2019300" cy="1285875"/>
          </a:xfrm>
          <a:prstGeom prst="roundRect">
            <a:avLst>
              <a:gd name="adj" fmla="val 5926"/>
            </a:avLst>
          </a:prstGeom>
          <a:solidFill>
            <a:srgbClr val="E7DCCB"/>
          </a:solidFill>
          <a:ln w="0">
            <a:solidFill>
              <a:srgbClr val="E7DCC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8579A4-84F8-4C98-876F-6E989E79DC50}"/>
              </a:ext>
            </a:extLst>
          </p:cNvPr>
          <p:cNvSpPr>
            <a:spLocks noGrp="1"/>
          </p:cNvSpPr>
          <p:nvPr/>
        </p:nvSpPr>
        <p:spPr>
          <a:xfrm>
            <a:off x="1352550" y="35242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4CEE4D-005D-465D-AEB7-38A9A1C42AE1}"/>
              </a:ext>
            </a:extLst>
          </p:cNvPr>
          <p:cNvSpPr>
            <a:spLocks noGrp="1"/>
          </p:cNvSpPr>
          <p:nvPr/>
        </p:nvSpPr>
        <p:spPr>
          <a:xfrm>
            <a:off x="1352550" y="39052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1D2A3E"/>
                </a:solidFill>
                <a:latin typeface="Microsoft YaHei"/>
                <a:ea typeface="Microsoft YaHei"/>
                <a:cs typeface="Microsoft YaHei"/>
              </a:defRPr>
            </a:pPr>
            <a:r>
              <a:t>视频文稿生成长篇书稿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BF72B41-11CC-4A19-B3DA-1674DD8BE80F}"/>
              </a:ext>
            </a:extLst>
          </p:cNvPr>
          <p:cNvSpPr>
            <a:spLocks noGrp="1"/>
          </p:cNvSpPr>
          <p:nvPr/>
        </p:nvSpPr>
        <p:spPr>
          <a:xfrm>
            <a:off x="3333750" y="3257550"/>
            <a:ext cx="2114550" cy="1285875"/>
          </a:xfrm>
          <a:prstGeom prst="roundRect">
            <a:avLst>
              <a:gd name="adj" fmla="val 5926"/>
            </a:avLst>
          </a:prstGeom>
          <a:solidFill>
            <a:srgbClr val="D9C6A4"/>
          </a:solidFill>
          <a:ln w="0">
            <a:solidFill>
              <a:srgbClr val="D9C6A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2C8FAC-1178-430F-B2F4-0C81A27EE28E}"/>
              </a:ext>
            </a:extLst>
          </p:cNvPr>
          <p:cNvSpPr>
            <a:spLocks noGrp="1"/>
          </p:cNvSpPr>
          <p:nvPr/>
        </p:nvSpPr>
        <p:spPr>
          <a:xfrm>
            <a:off x="3619500" y="35242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 i="0">
                <a:solidFill>
                  <a:srgbClr val="121A2A"/>
                </a:solidFill>
                <a:latin typeface="Microsoft YaHei"/>
                <a:ea typeface="Microsoft YaHei"/>
                <a:cs typeface="Microsoft YaHei"/>
              </a:defRPr>
            </a:pPr>
            <a:r>
              <a:t>书架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989B84-5A1D-47DE-98CA-6F1A5671492D}"/>
              </a:ext>
            </a:extLst>
          </p:cNvPr>
          <p:cNvSpPr>
            <a:spLocks noGrp="1"/>
          </p:cNvSpPr>
          <p:nvPr/>
        </p:nvSpPr>
        <p:spPr>
          <a:xfrm>
            <a:off x="3619500" y="3905250"/>
            <a:ext cx="152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 i="0">
                <a:solidFill>
                  <a:srgbClr val="1D2A3E"/>
                </a:solidFill>
                <a:latin typeface="Microsoft YaHei"/>
                <a:ea typeface="Microsoft YaHei"/>
                <a:cs typeface="Microsoft YaHei"/>
              </a:defRPr>
            </a:pPr>
            <a:r>
              <a:t>Word / Markdown 下载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E78B331-9B52-4AEF-8C38-A1B2168128E2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2095500" cy="1238250"/>
          </a:xfrm>
          <a:prstGeom prst="roundRect">
            <a:avLst>
              <a:gd name="adj" fmla="val 6154"/>
            </a:avLst>
          </a:prstGeom>
          <a:solidFill>
            <a:srgbClr val="1D2A3E"/>
          </a:solidFill>
          <a:ln w="9525">
            <a:solidFill>
              <a:srgbClr val="36445C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E30FFCE-0301-4A22-9BCB-FCB0352A05C9}"/>
              </a:ext>
            </a:extLst>
          </p:cNvPr>
          <p:cNvSpPr>
            <a:spLocks noGrp="1"/>
          </p:cNvSpPr>
          <p:nvPr/>
        </p:nvSpPr>
        <p:spPr>
          <a:xfrm>
            <a:off x="6743700" y="2428875"/>
            <a:ext cx="34290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30AC0A-F1FE-49D4-9879-9AB7D3064B9E}"/>
              </a:ext>
            </a:extLst>
          </p:cNvPr>
          <p:cNvSpPr>
            <a:spLocks noGrp="1"/>
          </p:cNvSpPr>
          <p:nvPr/>
        </p:nvSpPr>
        <p:spPr>
          <a:xfrm>
            <a:off x="6743700" y="2562225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226B8F-396F-49F4-A3E7-0E4D8E208903}"/>
              </a:ext>
            </a:extLst>
          </p:cNvPr>
          <p:cNvSpPr>
            <a:spLocks noGrp="1"/>
          </p:cNvSpPr>
          <p:nvPr/>
        </p:nvSpPr>
        <p:spPr>
          <a:xfrm>
            <a:off x="6743700" y="3019425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8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任务创建、进度展示、书架管理、批量下载。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578A176-F455-4BF7-978D-3D495CCD9375}"/>
              </a:ext>
            </a:extLst>
          </p:cNvPr>
          <p:cNvSpPr>
            <a:spLocks noGrp="1"/>
          </p:cNvSpPr>
          <p:nvPr/>
        </p:nvSpPr>
        <p:spPr>
          <a:xfrm>
            <a:off x="8953500" y="2238375"/>
            <a:ext cx="2095500" cy="1238250"/>
          </a:xfrm>
          <a:prstGeom prst="roundRect">
            <a:avLst>
              <a:gd name="adj" fmla="val 6154"/>
            </a:avLst>
          </a:prstGeom>
          <a:solidFill>
            <a:srgbClr val="1D2A3E"/>
          </a:solidFill>
          <a:ln w="9525">
            <a:solidFill>
              <a:srgbClr val="36445C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186D32-092D-43FE-83B0-467FC6D05C60}"/>
              </a:ext>
            </a:extLst>
          </p:cNvPr>
          <p:cNvSpPr>
            <a:spLocks noGrp="1"/>
          </p:cNvSpPr>
          <p:nvPr/>
        </p:nvSpPr>
        <p:spPr>
          <a:xfrm>
            <a:off x="9124950" y="2428875"/>
            <a:ext cx="34290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AED0850-2A13-40B4-91BE-DB1E0C752996}"/>
              </a:ext>
            </a:extLst>
          </p:cNvPr>
          <p:cNvSpPr>
            <a:spLocks noGrp="1"/>
          </p:cNvSpPr>
          <p:nvPr/>
        </p:nvSpPr>
        <p:spPr>
          <a:xfrm>
            <a:off x="9124950" y="2562225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48A000-7A0B-463F-A9EB-3BFBE4010183}"/>
              </a:ext>
            </a:extLst>
          </p:cNvPr>
          <p:cNvSpPr>
            <a:spLocks noGrp="1"/>
          </p:cNvSpPr>
          <p:nvPr/>
        </p:nvSpPr>
        <p:spPr>
          <a:xfrm>
            <a:off x="9124950" y="3019425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8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API、模型调度、阶段缓存、质量修复。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BD7118F-F7EC-47E9-BAEB-B2801EF7EAEE}"/>
              </a:ext>
            </a:extLst>
          </p:cNvPr>
          <p:cNvSpPr>
            <a:spLocks noGrp="1"/>
          </p:cNvSpPr>
          <p:nvPr/>
        </p:nvSpPr>
        <p:spPr>
          <a:xfrm>
            <a:off x="6572250" y="3810000"/>
            <a:ext cx="2095500" cy="1238250"/>
          </a:xfrm>
          <a:prstGeom prst="roundRect">
            <a:avLst>
              <a:gd name="adj" fmla="val 6154"/>
            </a:avLst>
          </a:prstGeom>
          <a:solidFill>
            <a:srgbClr val="1D2A3E"/>
          </a:solidFill>
          <a:ln w="9525">
            <a:solidFill>
              <a:srgbClr val="36445C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AC936CC-DDC7-42BB-BF64-7F779CCCC35B}"/>
              </a:ext>
            </a:extLst>
          </p:cNvPr>
          <p:cNvSpPr>
            <a:spLocks noGrp="1"/>
          </p:cNvSpPr>
          <p:nvPr/>
        </p:nvSpPr>
        <p:spPr>
          <a:xfrm>
            <a:off x="6743700" y="4000500"/>
            <a:ext cx="342900" cy="28575"/>
          </a:xfrm>
          <a:prstGeom prst="rect">
            <a:avLst/>
          </a:prstGeom>
          <a:solidFill>
            <a:srgbClr val="5E7FA3"/>
          </a:solidFill>
          <a:ln w="0">
            <a:solidFill>
              <a:srgbClr val="5E7FA3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AAA2CB-7EF8-4361-BAE2-D564E8461338}"/>
              </a:ext>
            </a:extLst>
          </p:cNvPr>
          <p:cNvSpPr>
            <a:spLocks noGrp="1"/>
          </p:cNvSpPr>
          <p:nvPr/>
        </p:nvSpPr>
        <p:spPr>
          <a:xfrm>
            <a:off x="6743700" y="4133850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队列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A7C66BF-8E0E-4ABE-A09C-8404C1E5BD09}"/>
              </a:ext>
            </a:extLst>
          </p:cNvPr>
          <p:cNvSpPr>
            <a:spLocks noGrp="1"/>
          </p:cNvSpPr>
          <p:nvPr/>
        </p:nvSpPr>
        <p:spPr>
          <a:xfrm>
            <a:off x="6743700" y="45910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8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Celery 异步处理长文本任务，避免页面阻塞。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A5FFFF3-4570-4ACF-8938-4DF14AD76B62}"/>
              </a:ext>
            </a:extLst>
          </p:cNvPr>
          <p:cNvSpPr>
            <a:spLocks noGrp="1"/>
          </p:cNvSpPr>
          <p:nvPr/>
        </p:nvSpPr>
        <p:spPr>
          <a:xfrm>
            <a:off x="8953500" y="3810000"/>
            <a:ext cx="2095500" cy="1238250"/>
          </a:xfrm>
          <a:prstGeom prst="roundRect">
            <a:avLst>
              <a:gd name="adj" fmla="val 6154"/>
            </a:avLst>
          </a:prstGeom>
          <a:solidFill>
            <a:srgbClr val="1D2A3E"/>
          </a:solidFill>
          <a:ln w="9525">
            <a:solidFill>
              <a:srgbClr val="36445C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637350D-CC76-4EF5-852A-DA5E028A6055}"/>
              </a:ext>
            </a:extLst>
          </p:cNvPr>
          <p:cNvSpPr>
            <a:spLocks noGrp="1"/>
          </p:cNvSpPr>
          <p:nvPr/>
        </p:nvSpPr>
        <p:spPr>
          <a:xfrm>
            <a:off x="9124950" y="4000500"/>
            <a:ext cx="34290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0DB1B2-D130-4795-86E0-7DA25F57A67B}"/>
              </a:ext>
            </a:extLst>
          </p:cNvPr>
          <p:cNvSpPr>
            <a:spLocks noGrp="1"/>
          </p:cNvSpPr>
          <p:nvPr/>
        </p:nvSpPr>
        <p:spPr>
          <a:xfrm>
            <a:off x="9124950" y="4133850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EA01FC-4CEF-46DF-AD33-B816F68998E3}"/>
              </a:ext>
            </a:extLst>
          </p:cNvPr>
          <p:cNvSpPr>
            <a:spLocks noGrp="1"/>
          </p:cNvSpPr>
          <p:nvPr/>
        </p:nvSpPr>
        <p:spPr>
          <a:xfrm>
            <a:off x="9124950" y="45910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08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容器化上线，可迁移、可重建、可扩展。</a:t>
            </a:r>
          </a:p>
        </p:txBody>
      </p:sp>
    </p:spTree>
    <p:extLst>
      <p:ext uri="{BB962C8B-B14F-4D97-AF65-F5344CB8AC3E}">
        <p14:creationId xmlns:p14="http://schemas.microsoft.com/office/powerpoint/2010/main" val="139924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E2BE6E20-D813-483C-B1CC-4F8394D22C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5DB05B-CD60-4CD2-AC01-DFD9DECAD427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4FF822E-2ACF-4AB1-824F-88B5B854EA3F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76200" cy="7620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95486D-B486-46D0-B398-CCFD43F61FDA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 i="0">
                <a:solidFill>
                  <a:srgbClr val="E3C77A"/>
                </a:solidFill>
                <a:latin typeface="Aptos"/>
                <a:ea typeface="Aptos"/>
                <a:cs typeface="Aptos"/>
              </a:defRPr>
            </a:pPr>
            <a:r>
              <a:t>BUSINESS VALUE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E2B0DC-B719-49F7-A3FC-56FDD9D62328}"/>
              </a:ext>
            </a:extLst>
          </p:cNvPr>
          <p:cNvSpPr>
            <a:spLocks noGrp="1"/>
          </p:cNvSpPr>
          <p:nvPr/>
        </p:nvSpPr>
        <p:spPr>
          <a:xfrm>
            <a:off x="10810875" y="361950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900" b="0" i="0">
                <a:solidFill>
                  <a:srgbClr val="8E99A8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6195C9-D356-4516-A1FC-112C079A1646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9347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6E3FAE-B84E-44F6-8580-DA9FD8E62554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最适合三类商业化场景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254747-6EE5-40A5-8678-C7243325F0B1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把已有内容资产重新包装为可交付、可售卖、可沉淀的长篇产品。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F55F2D2-A2FE-4BAD-B751-9C9509987FAC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762250" cy="2524125"/>
          </a:xfrm>
          <a:prstGeom prst="roundRect">
            <a:avLst>
              <a:gd name="adj" fmla="val 3019"/>
            </a:avLst>
          </a:prstGeom>
          <a:solidFill>
            <a:srgbClr val="1D2A3E"/>
          </a:solidFill>
          <a:ln w="9525">
            <a:solidFill>
              <a:srgbClr val="42536C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B3887E-C4C3-45BB-96C6-A9385F39B0BA}"/>
              </a:ext>
            </a:extLst>
          </p:cNvPr>
          <p:cNvSpPr>
            <a:spLocks noGrp="1"/>
          </p:cNvSpPr>
          <p:nvPr/>
        </p:nvSpPr>
        <p:spPr>
          <a:xfrm>
            <a:off x="1257300" y="2724150"/>
            <a:ext cx="76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1" i="0">
                <a:solidFill>
                  <a:srgbClr val="E3C77A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F2BE2-66F8-44B3-BB5F-874511484947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4762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436DD4-5A25-4578-8FC2-4BD5F5ECD64A}"/>
              </a:ext>
            </a:extLst>
          </p:cNvPr>
          <p:cNvSpPr>
            <a:spLocks noGrp="1"/>
          </p:cNvSpPr>
          <p:nvPr/>
        </p:nvSpPr>
        <p:spPr>
          <a:xfrm>
            <a:off x="1257300" y="34290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短视频内容资产再利用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5A9FBB-2FCE-4D8D-AC98-10A757C943B3}"/>
              </a:ext>
            </a:extLst>
          </p:cNvPr>
          <p:cNvSpPr>
            <a:spLocks noGrp="1"/>
          </p:cNvSpPr>
          <p:nvPr/>
        </p:nvSpPr>
        <p:spPr>
          <a:xfrm>
            <a:off x="1257300" y="4171950"/>
            <a:ext cx="22383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知识博主、视频号、直播切片、访谈内容，快速转成长文和书稿。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23D8971-D06B-43A6-AD83-D27D73C50BED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2762250" cy="2524125"/>
          </a:xfrm>
          <a:prstGeom prst="roundRect">
            <a:avLst>
              <a:gd name="adj" fmla="val 3019"/>
            </a:avLst>
          </a:prstGeom>
          <a:solidFill>
            <a:srgbClr val="263751"/>
          </a:solidFill>
          <a:ln w="9525">
            <a:solidFill>
              <a:srgbClr val="42536C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A9997E-16A3-4CED-8BD7-A2C05A8F4F36}"/>
              </a:ext>
            </a:extLst>
          </p:cNvPr>
          <p:cNvSpPr>
            <a:spLocks noGrp="1"/>
          </p:cNvSpPr>
          <p:nvPr/>
        </p:nvSpPr>
        <p:spPr>
          <a:xfrm>
            <a:off x="4686300" y="2724150"/>
            <a:ext cx="76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1" i="0">
                <a:solidFill>
                  <a:srgbClr val="E3C77A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449AC7-5188-4D3B-83D9-ECE37C78EDE1}"/>
              </a:ext>
            </a:extLst>
          </p:cNvPr>
          <p:cNvSpPr>
            <a:spLocks noGrp="1"/>
          </p:cNvSpPr>
          <p:nvPr/>
        </p:nvSpPr>
        <p:spPr>
          <a:xfrm>
            <a:off x="4686300" y="3105150"/>
            <a:ext cx="47625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182648-5D31-4B2D-AEC0-6AF924C460F6}"/>
              </a:ext>
            </a:extLst>
          </p:cNvPr>
          <p:cNvSpPr>
            <a:spLocks noGrp="1"/>
          </p:cNvSpPr>
          <p:nvPr/>
        </p:nvSpPr>
        <p:spPr>
          <a:xfrm>
            <a:off x="4686300" y="34290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图书与知识产品生产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A62BD7-8F92-437A-B85C-776F439531F2}"/>
              </a:ext>
            </a:extLst>
          </p:cNvPr>
          <p:cNvSpPr>
            <a:spLocks noGrp="1"/>
          </p:cNvSpPr>
          <p:nvPr/>
        </p:nvSpPr>
        <p:spPr>
          <a:xfrm>
            <a:off x="4686300" y="4171950"/>
            <a:ext cx="22383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电子书、讲义、专栏、训练营资料、课程配套内容。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FAD28DE-4F43-489B-9392-BE8B4B5BA9B2}"/>
              </a:ext>
            </a:extLst>
          </p:cNvPr>
          <p:cNvSpPr>
            <a:spLocks noGrp="1"/>
          </p:cNvSpPr>
          <p:nvPr/>
        </p:nvSpPr>
        <p:spPr>
          <a:xfrm>
            <a:off x="7905750" y="2476500"/>
            <a:ext cx="2762250" cy="2524125"/>
          </a:xfrm>
          <a:prstGeom prst="roundRect">
            <a:avLst>
              <a:gd name="adj" fmla="val 3019"/>
            </a:avLst>
          </a:prstGeom>
          <a:solidFill>
            <a:srgbClr val="1D2A3E"/>
          </a:solidFill>
          <a:ln w="9525">
            <a:solidFill>
              <a:srgbClr val="42536C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BF1C00-C171-4F08-98AF-861F0F7C83A0}"/>
              </a:ext>
            </a:extLst>
          </p:cNvPr>
          <p:cNvSpPr>
            <a:spLocks noGrp="1"/>
          </p:cNvSpPr>
          <p:nvPr/>
        </p:nvSpPr>
        <p:spPr>
          <a:xfrm>
            <a:off x="8115300" y="2724150"/>
            <a:ext cx="76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1" i="0">
                <a:solidFill>
                  <a:srgbClr val="E3C77A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23E5C0-B99E-4E32-9A2A-84339E5AE218}"/>
              </a:ext>
            </a:extLst>
          </p:cNvPr>
          <p:cNvSpPr>
            <a:spLocks noGrp="1"/>
          </p:cNvSpPr>
          <p:nvPr/>
        </p:nvSpPr>
        <p:spPr>
          <a:xfrm>
            <a:off x="8115300" y="3105150"/>
            <a:ext cx="4762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9630674-BBE2-4BDA-AC54-81DDA43D0ACC}"/>
              </a:ext>
            </a:extLst>
          </p:cNvPr>
          <p:cNvSpPr>
            <a:spLocks noGrp="1"/>
          </p:cNvSpPr>
          <p:nvPr/>
        </p:nvSpPr>
        <p:spPr>
          <a:xfrm>
            <a:off x="8115300" y="34290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内容团队提效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57901A-DEFA-44E7-BA94-7B54A6B258DC}"/>
              </a:ext>
            </a:extLst>
          </p:cNvPr>
          <p:cNvSpPr>
            <a:spLocks noGrp="1"/>
          </p:cNvSpPr>
          <p:nvPr/>
        </p:nvSpPr>
        <p:spPr>
          <a:xfrm>
            <a:off x="8115300" y="4171950"/>
            <a:ext cx="22383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200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先生成 70% 到 80% 结构化底稿，人负责最后判断和修订。</a:t>
            </a:r>
          </a:p>
        </p:txBody>
      </p:sp>
    </p:spTree>
    <p:extLst>
      <p:ext uri="{BB962C8B-B14F-4D97-AF65-F5344CB8AC3E}">
        <p14:creationId xmlns:p14="http://schemas.microsoft.com/office/powerpoint/2010/main" val="1854988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E364C5A4-87E0-4872-AED4-FB857AB8D0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A"/>
          </a:solidFill>
          <a:ln w="0">
            <a:solidFill>
              <a:srgbClr val="121A2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C9C77F-5D70-4EA6-9709-3D3DAFD3C3FB}"/>
              </a:ext>
            </a:extLst>
          </p:cNvPr>
          <p:cNvSpPr>
            <a:spLocks noGrp="1"/>
          </p:cNvSpPr>
          <p:nvPr/>
        </p:nvSpPr>
        <p:spPr>
          <a:xfrm>
            <a:off x="0" y="847725"/>
            <a:ext cx="12192000" cy="9525"/>
          </a:xfrm>
          <a:prstGeom prst="rect">
            <a:avLst/>
          </a:prstGeom>
          <a:solidFill>
            <a:srgbClr val="2B3850"/>
          </a:solidFill>
          <a:ln w="0">
            <a:solidFill>
              <a:srgbClr val="2B3850"/>
            </a:solidFill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B70BE6-E907-4D3E-935A-1FC2F586DB29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76200" cy="76200"/>
          </a:xfrm>
          <a:prstGeom prst="ellipse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40AC8D-2507-4E7E-8AA9-7499622FE515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 i="0">
                <a:solidFill>
                  <a:srgbClr val="E3C77A"/>
                </a:solidFill>
                <a:latin typeface="Aptos"/>
                <a:ea typeface="Aptos"/>
                <a:cs typeface="Aptos"/>
              </a:defRPr>
            </a:pPr>
            <a:r>
              <a:t>DEMO PATH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933BA1-736E-45F6-AB57-342086660E2D}"/>
              </a:ext>
            </a:extLst>
          </p:cNvPr>
          <p:cNvSpPr>
            <a:spLocks noGrp="1"/>
          </p:cNvSpPr>
          <p:nvPr/>
        </p:nvSpPr>
        <p:spPr>
          <a:xfrm>
            <a:off x="10810875" y="361950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900" b="0" i="0">
                <a:solidFill>
                  <a:srgbClr val="8E99A8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FC53CF-8F91-4285-AF9E-9F11F76E1B37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10934700" cy="9525"/>
          </a:xfrm>
          <a:prstGeom prst="rect">
            <a:avLst/>
          </a:prstGeom>
          <a:solidFill>
            <a:srgbClr val="334057"/>
          </a:solidFill>
          <a:ln w="0">
            <a:solidFill>
              <a:srgbClr val="334057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F8FABF-33BA-4572-8996-4D5B9A8240AE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Workflow</a:t>
            </a:r>
          </a:p>
          <a:p>
            <a:pPr algn="l">
              <a:defRPr sz="2850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endParaRPr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09ECB78-5944-4222-8E4A-102E9286ED88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1476375" cy="1143000"/>
          </a:xfrm>
          <a:prstGeom prst="roundRect">
            <a:avLst>
              <a:gd name="adj" fmla="val 666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C83D49-4A89-4D85-BD5B-73CD39047D15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输入素材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1FBBB8-FB79-4E89-8E9B-5F5BA098465A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12096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展示一段视频文稿或口播稿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AB3B92-1BFE-47C1-AFA6-D066265AE8D8}"/>
              </a:ext>
            </a:extLst>
          </p:cNvPr>
          <p:cNvSpPr>
            <a:spLocks noGrp="1"/>
          </p:cNvSpPr>
          <p:nvPr/>
        </p:nvSpPr>
        <p:spPr>
          <a:xfrm>
            <a:off x="819150" y="3800475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8B369C-FF44-4074-90A2-BF801D6788A9}"/>
              </a:ext>
            </a:extLst>
          </p:cNvPr>
          <p:cNvSpPr>
            <a:spLocks noGrp="1"/>
          </p:cNvSpPr>
          <p:nvPr/>
        </p:nvSpPr>
        <p:spPr>
          <a:xfrm>
            <a:off x="2190750" y="3352800"/>
            <a:ext cx="323850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A208A69E-C058-4633-96E2-D4A29D54C60A}"/>
              </a:ext>
            </a:extLst>
          </p:cNvPr>
          <p:cNvSpPr>
            <a:spLocks noGrp="1"/>
          </p:cNvSpPr>
          <p:nvPr/>
        </p:nvSpPr>
        <p:spPr>
          <a:xfrm rot="5400000">
            <a:off x="2466975" y="32956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ED5A84F-4F26-445A-BFA2-B57058FC2A91}"/>
              </a:ext>
            </a:extLst>
          </p:cNvPr>
          <p:cNvSpPr>
            <a:spLocks noGrp="1"/>
          </p:cNvSpPr>
          <p:nvPr/>
        </p:nvSpPr>
        <p:spPr>
          <a:xfrm>
            <a:off x="2543175" y="2809875"/>
            <a:ext cx="1476375" cy="1143000"/>
          </a:xfrm>
          <a:prstGeom prst="roundRect">
            <a:avLst>
              <a:gd name="adj" fmla="val 666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7B3847-21DB-47BA-94DE-0C246CA904DA}"/>
              </a:ext>
            </a:extLst>
          </p:cNvPr>
          <p:cNvSpPr>
            <a:spLocks noGrp="1"/>
          </p:cNvSpPr>
          <p:nvPr/>
        </p:nvSpPr>
        <p:spPr>
          <a:xfrm>
            <a:off x="2676525" y="2943225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选择分类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ED06CA-C6DD-4383-9838-7498DC3DBF43}"/>
              </a:ext>
            </a:extLst>
          </p:cNvPr>
          <p:cNvSpPr>
            <a:spLocks noGrp="1"/>
          </p:cNvSpPr>
          <p:nvPr/>
        </p:nvSpPr>
        <p:spPr>
          <a:xfrm>
            <a:off x="2676525" y="3286125"/>
            <a:ext cx="12096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让客户看到题材策略入口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657343-02A7-4EEB-8E85-6F60D67CD990}"/>
              </a:ext>
            </a:extLst>
          </p:cNvPr>
          <p:cNvSpPr>
            <a:spLocks noGrp="1"/>
          </p:cNvSpPr>
          <p:nvPr/>
        </p:nvSpPr>
        <p:spPr>
          <a:xfrm>
            <a:off x="2676525" y="3800475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EC6CF8-B2BB-4390-9214-DE31A8AF7F38}"/>
              </a:ext>
            </a:extLst>
          </p:cNvPr>
          <p:cNvSpPr>
            <a:spLocks noGrp="1"/>
          </p:cNvSpPr>
          <p:nvPr/>
        </p:nvSpPr>
        <p:spPr>
          <a:xfrm>
            <a:off x="4048125" y="3352800"/>
            <a:ext cx="323850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60191EAD-C81E-43F0-92D5-C7E3D3507F25}"/>
              </a:ext>
            </a:extLst>
          </p:cNvPr>
          <p:cNvSpPr>
            <a:spLocks noGrp="1"/>
          </p:cNvSpPr>
          <p:nvPr/>
        </p:nvSpPr>
        <p:spPr>
          <a:xfrm rot="5400000">
            <a:off x="4324350" y="32956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92A0F11-18E9-45DE-865D-150DC7AD8EEB}"/>
              </a:ext>
            </a:extLst>
          </p:cNvPr>
          <p:cNvSpPr>
            <a:spLocks noGrp="1"/>
          </p:cNvSpPr>
          <p:nvPr/>
        </p:nvSpPr>
        <p:spPr>
          <a:xfrm>
            <a:off x="4400550" y="2809875"/>
            <a:ext cx="1476375" cy="1143000"/>
          </a:xfrm>
          <a:prstGeom prst="roundRect">
            <a:avLst>
              <a:gd name="adj" fmla="val 666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148C43C-E755-4B4E-A231-16F1D7EC6F42}"/>
              </a:ext>
            </a:extLst>
          </p:cNvPr>
          <p:cNvSpPr>
            <a:spLocks noGrp="1"/>
          </p:cNvSpPr>
          <p:nvPr/>
        </p:nvSpPr>
        <p:spPr>
          <a:xfrm>
            <a:off x="4533900" y="2943225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开始任务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18439B-143C-47F6-B101-1BC2A78EFC0E}"/>
              </a:ext>
            </a:extLst>
          </p:cNvPr>
          <p:cNvSpPr>
            <a:spLocks noGrp="1"/>
          </p:cNvSpPr>
          <p:nvPr/>
        </p:nvSpPr>
        <p:spPr>
          <a:xfrm>
            <a:off x="4533900" y="3286125"/>
            <a:ext cx="12096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展示系统化处理流程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B12C58-FF44-4D64-B4D2-DF42AB159970}"/>
              </a:ext>
            </a:extLst>
          </p:cNvPr>
          <p:cNvSpPr>
            <a:spLocks noGrp="1"/>
          </p:cNvSpPr>
          <p:nvPr/>
        </p:nvSpPr>
        <p:spPr>
          <a:xfrm>
            <a:off x="4533900" y="3800475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B717950-D918-4FE8-90DE-3646A4F52D18}"/>
              </a:ext>
            </a:extLst>
          </p:cNvPr>
          <p:cNvSpPr>
            <a:spLocks noGrp="1"/>
          </p:cNvSpPr>
          <p:nvPr/>
        </p:nvSpPr>
        <p:spPr>
          <a:xfrm>
            <a:off x="5905500" y="3352800"/>
            <a:ext cx="323850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EF24FB85-7453-4C49-8CCC-2EE8C46E99AB}"/>
              </a:ext>
            </a:extLst>
          </p:cNvPr>
          <p:cNvSpPr>
            <a:spLocks noGrp="1"/>
          </p:cNvSpPr>
          <p:nvPr/>
        </p:nvSpPr>
        <p:spPr>
          <a:xfrm rot="5400000">
            <a:off x="6181725" y="32956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A7A5AC3-341B-4502-A472-28158F816B15}"/>
              </a:ext>
            </a:extLst>
          </p:cNvPr>
          <p:cNvSpPr>
            <a:spLocks noGrp="1"/>
          </p:cNvSpPr>
          <p:nvPr/>
        </p:nvSpPr>
        <p:spPr>
          <a:xfrm>
            <a:off x="6257925" y="2809875"/>
            <a:ext cx="1476375" cy="1143000"/>
          </a:xfrm>
          <a:prstGeom prst="roundRect">
            <a:avLst>
              <a:gd name="adj" fmla="val 666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752BF2-2FC0-4595-868E-3CB1392723D2}"/>
              </a:ext>
            </a:extLst>
          </p:cNvPr>
          <p:cNvSpPr>
            <a:spLocks noGrp="1"/>
          </p:cNvSpPr>
          <p:nvPr/>
        </p:nvSpPr>
        <p:spPr>
          <a:xfrm>
            <a:off x="6391275" y="2943225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查看阶段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0DB8-831F-4C4F-A81A-7113AE853792}"/>
              </a:ext>
            </a:extLst>
          </p:cNvPr>
          <p:cNvSpPr>
            <a:spLocks noGrp="1"/>
          </p:cNvSpPr>
          <p:nvPr/>
        </p:nvSpPr>
        <p:spPr>
          <a:xfrm>
            <a:off x="6391275" y="3286125"/>
            <a:ext cx="12096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说明主笔、润色、终稿层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3DE8F98-FEF9-42F3-9E13-85AA017EBCCA}"/>
              </a:ext>
            </a:extLst>
          </p:cNvPr>
          <p:cNvSpPr>
            <a:spLocks noGrp="1"/>
          </p:cNvSpPr>
          <p:nvPr/>
        </p:nvSpPr>
        <p:spPr>
          <a:xfrm>
            <a:off x="6391275" y="3800475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062B0B-DF87-46D5-BB06-D65769CF7FE3}"/>
              </a:ext>
            </a:extLst>
          </p:cNvPr>
          <p:cNvSpPr>
            <a:spLocks noGrp="1"/>
          </p:cNvSpPr>
          <p:nvPr/>
        </p:nvSpPr>
        <p:spPr>
          <a:xfrm>
            <a:off x="7762875" y="3352800"/>
            <a:ext cx="323850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93810554-3FDA-4306-8E6C-D4084FE7E6BF}"/>
              </a:ext>
            </a:extLst>
          </p:cNvPr>
          <p:cNvSpPr>
            <a:spLocks noGrp="1"/>
          </p:cNvSpPr>
          <p:nvPr/>
        </p:nvSpPr>
        <p:spPr>
          <a:xfrm rot="5400000">
            <a:off x="8039100" y="32956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4F69BC8-1DEB-48D3-8DB3-2E77E6A6ACF5}"/>
              </a:ext>
            </a:extLst>
          </p:cNvPr>
          <p:cNvSpPr>
            <a:spLocks noGrp="1"/>
          </p:cNvSpPr>
          <p:nvPr/>
        </p:nvSpPr>
        <p:spPr>
          <a:xfrm>
            <a:off x="8115300" y="2809875"/>
            <a:ext cx="1476375" cy="1143000"/>
          </a:xfrm>
          <a:prstGeom prst="roundRect">
            <a:avLst>
              <a:gd name="adj" fmla="val 6667"/>
            </a:avLst>
          </a:prstGeom>
          <a:solidFill>
            <a:srgbClr val="263751"/>
          </a:solidFill>
          <a:ln w="9525">
            <a:solidFill>
              <a:srgbClr val="3A4A64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F4DD3B-B149-426C-9ADC-BC3338C2DD51}"/>
              </a:ext>
            </a:extLst>
          </p:cNvPr>
          <p:cNvSpPr>
            <a:spLocks noGrp="1"/>
          </p:cNvSpPr>
          <p:nvPr/>
        </p:nvSpPr>
        <p:spPr>
          <a:xfrm>
            <a:off x="8248650" y="2943225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打开成稿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93718C7-A064-4653-A03E-9FE168F5757C}"/>
              </a:ext>
            </a:extLst>
          </p:cNvPr>
          <p:cNvSpPr>
            <a:spLocks noGrp="1"/>
          </p:cNvSpPr>
          <p:nvPr/>
        </p:nvSpPr>
        <p:spPr>
          <a:xfrm>
            <a:off x="8248650" y="3286125"/>
            <a:ext cx="12096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重点看目录、导言、正文片段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5EC019E-5E5C-44D9-B318-E336341F12CC}"/>
              </a:ext>
            </a:extLst>
          </p:cNvPr>
          <p:cNvSpPr>
            <a:spLocks noGrp="1"/>
          </p:cNvSpPr>
          <p:nvPr/>
        </p:nvSpPr>
        <p:spPr>
          <a:xfrm>
            <a:off x="8248650" y="3800475"/>
            <a:ext cx="400050" cy="28575"/>
          </a:xfrm>
          <a:prstGeom prst="rect">
            <a:avLst/>
          </a:prstGeom>
          <a:solidFill>
            <a:srgbClr val="C5A15B"/>
          </a:solidFill>
          <a:ln w="0">
            <a:solidFill>
              <a:srgbClr val="C5A15B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0AD9E68-483E-4503-8D36-A08A97673D35}"/>
              </a:ext>
            </a:extLst>
          </p:cNvPr>
          <p:cNvSpPr>
            <a:spLocks noGrp="1"/>
          </p:cNvSpPr>
          <p:nvPr/>
        </p:nvSpPr>
        <p:spPr>
          <a:xfrm>
            <a:off x="9620250" y="3352800"/>
            <a:ext cx="323850" cy="19050"/>
          </a:xfrm>
          <a:prstGeom prst="rect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8282C188-D9AB-47CF-B6C6-F0CAF11C295D}"/>
              </a:ext>
            </a:extLst>
          </p:cNvPr>
          <p:cNvSpPr>
            <a:spLocks noGrp="1"/>
          </p:cNvSpPr>
          <p:nvPr/>
        </p:nvSpPr>
        <p:spPr>
          <a:xfrm rot="5400000">
            <a:off x="9896475" y="3295650"/>
            <a:ext cx="133350" cy="133350"/>
          </a:xfrm>
          <a:prstGeom prst="triangle">
            <a:avLst/>
          </a:prstGeom>
          <a:solidFill>
            <a:srgbClr val="B9924F"/>
          </a:solidFill>
          <a:ln w="0">
            <a:solidFill>
              <a:srgbClr val="B9924F"/>
            </a:solidFill>
          </a:ln>
        </p:spPr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B786828-8D18-494B-9D56-B3684832A1AC}"/>
              </a:ext>
            </a:extLst>
          </p:cNvPr>
          <p:cNvSpPr>
            <a:spLocks noGrp="1"/>
          </p:cNvSpPr>
          <p:nvPr/>
        </p:nvSpPr>
        <p:spPr>
          <a:xfrm>
            <a:off x="9972675" y="2809875"/>
            <a:ext cx="1476375" cy="1143000"/>
          </a:xfrm>
          <a:prstGeom prst="roundRect">
            <a:avLst>
              <a:gd name="adj" fmla="val 6667"/>
            </a:avLst>
          </a:prstGeom>
          <a:solidFill>
            <a:srgbClr val="1D2A3E"/>
          </a:solidFill>
          <a:ln w="9525">
            <a:solidFill>
              <a:srgbClr val="3A4A64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94AFE8-1663-4987-A566-9F44936538EB}"/>
              </a:ext>
            </a:extLst>
          </p:cNvPr>
          <p:cNvSpPr>
            <a:spLocks noGrp="1"/>
          </p:cNvSpPr>
          <p:nvPr/>
        </p:nvSpPr>
        <p:spPr>
          <a:xfrm>
            <a:off x="10106025" y="2943225"/>
            <a:ext cx="12096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 i="0">
                <a:solidFill>
                  <a:srgbClr val="F6F1E7"/>
                </a:solidFill>
                <a:latin typeface="Microsoft YaHei"/>
                <a:ea typeface="Microsoft YaHei"/>
                <a:cs typeface="Microsoft YaHei"/>
              </a:defRPr>
            </a:pPr>
            <a:r>
              <a:t>书架下载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77BEAE7-BECE-45EE-96C9-B488E7E02E4A}"/>
              </a:ext>
            </a:extLst>
          </p:cNvPr>
          <p:cNvSpPr>
            <a:spLocks noGrp="1"/>
          </p:cNvSpPr>
          <p:nvPr/>
        </p:nvSpPr>
        <p:spPr>
          <a:xfrm>
            <a:off x="10106025" y="3286125"/>
            <a:ext cx="120967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938" b="0" i="0">
                <a:solidFill>
                  <a:srgbClr val="B9C0CA"/>
                </a:solidFill>
                <a:latin typeface="Microsoft YaHei"/>
                <a:ea typeface="Microsoft YaHei"/>
                <a:cs typeface="Microsoft YaHei"/>
              </a:defRPr>
            </a:pPr>
            <a:r>
              <a:t>展示 Word / Markdown 交付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67781CF-9F65-474C-93CD-39EC5D1ED1D4}"/>
              </a:ext>
            </a:extLst>
          </p:cNvPr>
          <p:cNvSpPr>
            <a:spLocks noGrp="1"/>
          </p:cNvSpPr>
          <p:nvPr/>
        </p:nvSpPr>
        <p:spPr>
          <a:xfrm>
            <a:off x="10106025" y="3800475"/>
            <a:ext cx="400050" cy="28575"/>
          </a:xfrm>
          <a:prstGeom prst="rect">
            <a:avLst/>
          </a:prstGeom>
          <a:solidFill>
            <a:srgbClr val="6FA18C"/>
          </a:solidFill>
          <a:ln w="0">
            <a:solidFill>
              <a:srgbClr val="6FA18C"/>
            </a:solidFill>
          </a:ln>
        </p:spPr>
      </p:sp>
    </p:spTree>
    <p:extLst>
      <p:ext uri="{BB962C8B-B14F-4D97-AF65-F5344CB8AC3E}">
        <p14:creationId xmlns:p14="http://schemas.microsoft.com/office/powerpoint/2010/main" val="293889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DocSecurity>0</DocSecurity>
  <PresentationFormat>宽屏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晔 杨</cp:lastModifiedBy>
  <cp:revision>1</cp:revision>
  <dcterms:created xsi:type="dcterms:W3CDTF">2026-05-08T14:30:31Z</dcterms:created>
  <dcterms:modified xsi:type="dcterms:W3CDTF">2026-05-08T14:35:41Z</dcterms:modified>
</cp:coreProperties>
</file>